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40ebd60d374823" /><Relationship Type="http://schemas.openxmlformats.org/officeDocument/2006/relationships/extended-properties" Target="/docProps/app.xml" Id="R76606cb7433c4790" /><Relationship Type="http://schemas.openxmlformats.org/officeDocument/2006/relationships/officeDocument" Target="/ppt/presentation.xml" Id="Ree6720b0995a42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ff57a9b6c94e45"/>
  </p:sldMasterIdLst>
  <p:notesMasterIdLst>
    <p:notesMasterId xmlns:r="http://schemas.openxmlformats.org/officeDocument/2006/relationships" r:id="R09787c7f2d93452d"/>
  </p:notesMasterIdLst>
  <p:sldIdLst>
    <p:sldId xmlns:r="http://schemas.openxmlformats.org/officeDocument/2006/relationships" id="256" r:id="R484ce3aed49d4a59"/>
    <p:sldId xmlns:r="http://schemas.openxmlformats.org/officeDocument/2006/relationships" id="257" r:id="R2ce9f0fbd3184c54"/>
    <p:sldId xmlns:r="http://schemas.openxmlformats.org/officeDocument/2006/relationships" id="258" r:id="Rfa4758e586714ea2"/>
    <p:sldId xmlns:r="http://schemas.openxmlformats.org/officeDocument/2006/relationships" id="259" r:id="R6b59bace2e7b4c48"/>
    <p:sldId xmlns:r="http://schemas.openxmlformats.org/officeDocument/2006/relationships" id="260" r:id="R11a43a30493c4844"/>
    <p:sldId xmlns:r="http://schemas.openxmlformats.org/officeDocument/2006/relationships" id="261" r:id="Rbf14398623074be7"/>
    <p:sldId xmlns:r="http://schemas.openxmlformats.org/officeDocument/2006/relationships" id="262" r:id="R2b643efecb074bbb"/>
    <p:sldId xmlns:r="http://schemas.openxmlformats.org/officeDocument/2006/relationships" id="263" r:id="R2372615d29b14087"/>
    <p:sldId xmlns:r="http://schemas.openxmlformats.org/officeDocument/2006/relationships" id="264" r:id="Rfbc39fe7d7454f7a"/>
    <p:sldId xmlns:r="http://schemas.openxmlformats.org/officeDocument/2006/relationships" id="265" r:id="R7f179bee5a4b4653"/>
    <p:sldId xmlns:r="http://schemas.openxmlformats.org/officeDocument/2006/relationships" id="266" r:id="Rd1238c100d344f37"/>
    <p:sldId xmlns:r="http://schemas.openxmlformats.org/officeDocument/2006/relationships" id="267" r:id="Ra8365393a1a84ff2"/>
    <p:sldId xmlns:r="http://schemas.openxmlformats.org/officeDocument/2006/relationships" id="268" r:id="Rfa13a64ebf514fc9"/>
    <p:sldId xmlns:r="http://schemas.openxmlformats.org/officeDocument/2006/relationships" id="269" r:id="R8509b85dfab645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352c3209594c50" /><Relationship Type="http://schemas.openxmlformats.org/officeDocument/2006/relationships/slideMaster" Target="/ppt/slideMasters/slideMaster1.xml" Id="Radff57a9b6c94e45" /><Relationship Type="http://schemas.openxmlformats.org/officeDocument/2006/relationships/notesMaster" Target="/ppt/notesMasters/notesMaster1.xml" Id="R09787c7f2d93452d" /><Relationship Type="http://schemas.openxmlformats.org/officeDocument/2006/relationships/presProps" Target="/ppt/presProps.xml" Id="R5289ba5499d342d0" /><Relationship Type="http://schemas.openxmlformats.org/officeDocument/2006/relationships/viewProps" Target="/ppt/viewProps.xml" Id="R10528e4e48df43cc" /><Relationship Type="http://schemas.openxmlformats.org/officeDocument/2006/relationships/tableStyles" Target="/ppt/tableStyles.xml" Id="R2ba5bac707c0446f" /><Relationship Type="http://schemas.openxmlformats.org/officeDocument/2006/relationships/slide" Target="/ppt/slides/slide1.xml" Id="R484ce3aed49d4a59" /><Relationship Type="http://schemas.openxmlformats.org/officeDocument/2006/relationships/slide" Target="/ppt/slides/slide2.xml" Id="R2ce9f0fbd3184c54" /><Relationship Type="http://schemas.openxmlformats.org/officeDocument/2006/relationships/slide" Target="/ppt/slides/slide3.xml" Id="Rfa4758e586714ea2" /><Relationship Type="http://schemas.openxmlformats.org/officeDocument/2006/relationships/slide" Target="/ppt/slides/slide4.xml" Id="R6b59bace2e7b4c48" /><Relationship Type="http://schemas.openxmlformats.org/officeDocument/2006/relationships/slide" Target="/ppt/slides/slide5.xml" Id="R11a43a30493c4844" /><Relationship Type="http://schemas.openxmlformats.org/officeDocument/2006/relationships/slide" Target="/ppt/slides/slide6.xml" Id="Rbf14398623074be7" /><Relationship Type="http://schemas.openxmlformats.org/officeDocument/2006/relationships/slide" Target="/ppt/slides/slide7.xml" Id="R2b643efecb074bbb" /><Relationship Type="http://schemas.openxmlformats.org/officeDocument/2006/relationships/slide" Target="/ppt/slides/slide8.xml" Id="R2372615d29b14087" /><Relationship Type="http://schemas.openxmlformats.org/officeDocument/2006/relationships/slide" Target="/ppt/slides/slide9.xml" Id="Rfbc39fe7d7454f7a" /><Relationship Type="http://schemas.openxmlformats.org/officeDocument/2006/relationships/slide" Target="/ppt/slides/slide10.xml" Id="R7f179bee5a4b4653" /><Relationship Type="http://schemas.openxmlformats.org/officeDocument/2006/relationships/slide" Target="/ppt/slides/slide11.xml" Id="Rd1238c100d344f37" /><Relationship Type="http://schemas.openxmlformats.org/officeDocument/2006/relationships/slide" Target="/ppt/slides/slide12.xml" Id="Ra8365393a1a84ff2" /><Relationship Type="http://schemas.openxmlformats.org/officeDocument/2006/relationships/slide" Target="/ppt/slides/slide13.xml" Id="Rfa13a64ebf514fc9" /><Relationship Type="http://schemas.openxmlformats.org/officeDocument/2006/relationships/slide" Target="/ppt/slides/slide14.xml" Id="R8509b85dfab645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c15dc1a83149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9a04ca1461422d" /><Relationship Type="http://schemas.openxmlformats.org/officeDocument/2006/relationships/notesMaster" Target="/ppt/notesMasters/notesMaster1.xml" Id="Ree9792ee92d647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2d1d034948422b" /><Relationship Type="http://schemas.openxmlformats.org/officeDocument/2006/relationships/notesMaster" Target="/ppt/notesMasters/notesMaster1.xml" Id="R84fdf00f6dcc42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f59e7db7ac4aaf" /><Relationship Type="http://schemas.openxmlformats.org/officeDocument/2006/relationships/notesMaster" Target="/ppt/notesMasters/notesMaster1.xml" Id="R0fadb98635004c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e4375ac4d845fc" /><Relationship Type="http://schemas.openxmlformats.org/officeDocument/2006/relationships/notesMaster" Target="/ppt/notesMasters/notesMaster1.xml" Id="Rd55853dfec2d45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b61f78eb664537" /><Relationship Type="http://schemas.openxmlformats.org/officeDocument/2006/relationships/notesMaster" Target="/ppt/notesMasters/notesMaster1.xml" Id="Rbe5670896e6d4b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1b7c5a184b47f3" /><Relationship Type="http://schemas.openxmlformats.org/officeDocument/2006/relationships/notesMaster" Target="/ppt/notesMasters/notesMaster1.xml" Id="R5ec4e3ff3f834c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2645d58b964935" /><Relationship Type="http://schemas.openxmlformats.org/officeDocument/2006/relationships/notesMaster" Target="/ppt/notesMasters/notesMaster1.xml" Id="R84ee57cb9d5d46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75263cf9404a6e" /><Relationship Type="http://schemas.openxmlformats.org/officeDocument/2006/relationships/notesMaster" Target="/ppt/notesMasters/notesMaster1.xml" Id="Rb6fc618c4f5241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3c48f09d364306" /><Relationship Type="http://schemas.openxmlformats.org/officeDocument/2006/relationships/notesMaster" Target="/ppt/notesMasters/notesMaster1.xml" Id="Rc88617a0d0094a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041278b253427d" /><Relationship Type="http://schemas.openxmlformats.org/officeDocument/2006/relationships/notesMaster" Target="/ppt/notesMasters/notesMaster1.xml" Id="Rdbfd6f70d35143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5aeaa880754779" /><Relationship Type="http://schemas.openxmlformats.org/officeDocument/2006/relationships/notesMaster" Target="/ppt/notesMasters/notesMaster1.xml" Id="R0ea2985fd88f4a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16a0d7c0eb4efc" /><Relationship Type="http://schemas.openxmlformats.org/officeDocument/2006/relationships/notesMaster" Target="/ppt/notesMasters/notesMaster1.xml" Id="R3c6cb70e1d174e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da103c8ba24860" /><Relationship Type="http://schemas.openxmlformats.org/officeDocument/2006/relationships/notesMaster" Target="/ppt/notesMasters/notesMaster1.xml" Id="R4bc0f635273740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adb15fd66a4ed8" /><Relationship Type="http://schemas.openxmlformats.org/officeDocument/2006/relationships/notesMaster" Target="/ppt/notesMasters/notesMaster1.xml" Id="Ra8da8309302244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just">
              <a:buNone/>
            </a:pPr>
            <a:r>
              <a:rPr sz="1800"/>
              <a:t>开场：本项目把密码 Boolean Oracle 编译作为 AI4Q 与 Q4AI 的同一决策接口。</a:t>
            </a:r>
            <a:endParaRPr sz="1800"/>
          </a:p>
          <a:p xmlns:a="http://schemas.openxmlformats.org/drawingml/2006/main"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/>
              <a:t>强调 AI 和量子子程序只改变搜索次序与预算，语义正确性由确定性验证器裁决。</a:t>
            </a:r>
            <a:endParaRPr sz="1800"/>
          </a:p>
          <a:p xmlns:a="http://schemas.openxmlformats.org/drawingml/2006/main"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 sz="1800"/>
          </a:p>
          <a:p xmlns:a="http://schemas.openxmlformats.org/drawingml/2006/main"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docs/papers/resource_nmcts/chinese/main.tex</a:t>
            </a:r>
            <a:endParaRPr sz="1800"/>
          </a:p>
          <a:p xmlns:a="http://schemas.openxmlformats.org/drawingml/2006/main"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docs/project/PROJECT_STATUS_XA202609.md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这一页定义科学问题，而不是罗列功能。三种错配分别对应 H1-H4 的可证伪实验。</a:t>
            </a:r>
            <a:endParaRPr/>
          </a:p>
          <a:p xmlns:a="http://schemas.openxmlformats.org/drawingml/2006/main">
            <a:r>
              <a:t>左图说明逻辑资源存在多目标折中；右图说明学习控制与语义权威被分离。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docs/papers/resource_nmcts/chinese/main.tex</a:t>
            </a:r>
            <a:endParaRPr/>
          </a:p>
          <a:p xmlns:a="http://schemas.openxmlformats.org/drawingml/2006/main">
            <a:r>
              <a:t>- docs/project/PROJECT_STATUS_XA202609.md</a:t>
            </a:r>
            <a:endParaRPr/>
          </a:p>
          <a:p xmlns:a="http://schemas.openxmlformats.org/drawingml/2006/main">
            <a:r>
              <a:t>- docs/papers/resource_nmcts/english/figures/submission_v36/fig1_pipeline.png</a:t>
            </a:r>
            <a:endParaRPr/>
          </a:p>
          <a:p xmlns:a="http://schemas.openxmlformats.org/drawingml/2006/main">
            <a:r>
              <a:t>- docs/papers/resource_nmcts/english/figures/submission_v36/fig2_traditional_resources.png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/>
              <a:t>AI4Q 路径：结构学习用于排序合法动作；Q4AI 路径：QAOA 决定有限预算给哪些独立根边。</a:t>
            </a:r>
            <a:endParaRPr sz="1800"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/>
              <a:t>执行反馈再把原生/含噪标签作用回根效用，形成同一闭环。</a:t>
            </a:r>
            <a:endParaRPr sz="1800"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/>
              <a:t>[Sources]</a:t>
            </a:r>
            <a:endParaRPr sz="1800"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/>
              <a:t>- docs/papers/resource_nmcts/chinese/main.tex</a:t>
            </a:r>
            <a:endParaRPr sz="1800"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/>
              <a:t>- docs/project/TECHNICAL_DESIGN.md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/>
              <a:t>从输入到输出，AI 和量子模块没有任何一步可以越过验证器。</a:t>
            </a:r>
            <a:endParaRPr sz="1800"/>
          </a:p>
          <a:p xmlns:a="http://schemas.openxmlformats.org/drawingml/2006/main">
            <a:r>
              <a:rPr sz="1800"/>
              <a:t>这使每个创新模块都能独立替换、消融或失败，而不会损坏 Oracle 语义。</a:t>
            </a:r>
            <a:endParaRPr sz="1800"/>
          </a:p>
          <a:p xmlns:a="http://schemas.openxmlformats.org/drawingml/2006/main">
            <a:r>
              <a:rPr sz="1800"/>
              <a:t>[Sources]</a:t>
            </a:r>
            <a:endParaRPr sz="1800"/>
          </a:p>
          <a:p xmlns:a="http://schemas.openxmlformats.org/drawingml/2006/main">
            <a:r>
              <a:rPr sz="1800"/>
              <a:t>- docs/papers/resource_nmcts/chinese/main.tex</a:t>
            </a:r>
            <a:endParaRPr sz="1800"/>
          </a:p>
          <a:p xmlns:a="http://schemas.openxmlformats.org/drawingml/2006/main">
            <a:r>
              <a:rPr sz="1800"/>
              <a:t>- docs/project/TECHNICAL_DESIGN.md</a:t>
            </a:r>
            <a:endParaRPr sz="1800"/>
          </a:p>
          <a:p xmlns:a="http://schemas.openxmlformats.org/drawingml/2006/main">
            <a:r>
              <a:rPr sz="1800"/>
              <a:t>- experiments/src/synthesizers.py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/>
              <a:t>等变结构对应表示错配：变量重标号后，动作分数随标签同步移动。</a:t>
            </a:r>
            <a:endParaRPr sz="1800"/>
          </a:p>
          <a:p xmlns:a="http://schemas.openxmlformats.org/drawingml/2006/main">
            <a:r>
              <a:rPr sz="1800"/>
              <a:t>policy 和 value 独立开关，因此可以用因果消融决定部署配置。</a:t>
            </a:r>
            <a:endParaRPr sz="1800"/>
          </a:p>
          <a:p xmlns:a="http://schemas.openxmlformats.org/drawingml/2006/main">
            <a:r>
              <a:rPr sz="1800"/>
              <a:t>[Sources]</a:t>
            </a:r>
            <a:endParaRPr sz="1800"/>
          </a:p>
          <a:p xmlns:a="http://schemas.openxmlformats.org/drawingml/2006/main">
            <a:r>
              <a:rPr sz="1800"/>
              <a:t>- docs/papers/resource_nmcts/chinese/main.tex</a:t>
            </a:r>
            <a:endParaRPr sz="1800"/>
          </a:p>
          <a:p xmlns:a="http://schemas.openxmlformats.org/drawingml/2006/main">
            <a:r>
              <a:rPr sz="1800"/>
              <a:t>- experiments/src/foundation/encoding.py</a:t>
            </a:r>
            <a:endParaRPr sz="1800"/>
          </a:p>
          <a:p xmlns:a="http://schemas.openxmlformats.org/drawingml/2006/main">
            <a:r>
              <a:rPr sz="1800"/>
              <a:t>- experiments/src/foundation/equivariant.py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/>
              <a:t>这页只做配置选择：policy-only 有初步且独立的正向证据；value 目标当前不可靠。</a:t>
            </a:r>
            <a:endParaRPr sz="1800"/>
          </a:p>
          <a:p xmlns:a="http://schemas.openxmlformats.org/drawingml/2006/main">
            <a:r>
              <a:rPr sz="1800"/>
              <a:t>独立 gate test 覆盖 8 个函数簇、n=6–9、3 个 solver seeds；仍属于 preliminary evidence。</a:t>
            </a:r>
            <a:endParaRPr sz="1800"/>
          </a:p>
          <a:p xmlns:a="http://schemas.openxmlformats.org/drawingml/2006/main">
            <a:r>
              <a:rPr sz="1800"/>
              <a:t>[Sources]</a:t>
            </a:r>
            <a:endParaRPr sz="1800"/>
          </a:p>
          <a:p xmlns:a="http://schemas.openxmlformats.org/drawingml/2006/main">
            <a:r>
              <a:rPr sz="1800"/>
              <a:t>- experiments/results/xa202609/20260809-e1-policy-gate-test-v3-t96-v2/summary.json</a:t>
            </a:r>
            <a:endParaRPr sz="1800"/>
          </a:p>
          <a:p xmlns:a="http://schemas.openxmlformats.org/drawingml/2006/main">
            <a:r>
              <a:rPr sz="1800"/>
              <a:t>- docs/planning/EXPERIMENT_ROADMAP_XA202609.md</a:t>
            </a:r>
            <a:endParaRPr sz="1800"/>
          </a:p>
          <a:p xmlns:a="http://schemas.openxmlformats.org/drawingml/2006/main">
            <a:r>
              <a:rPr sz="1800"/>
              <a:t>- docs/contracts/COMPETITION_ACCEPTANCE_MATRIX.json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/>
              <a:t>QAOA 不生成量子线路，它求解固定基数的效用—多样性组合优化。</a:t>
            </a:r>
            <a:endParaRPr sz="1800"/>
          </a:p>
          <a:p xmlns:a="http://schemas.openxmlformats.org/drawingml/2006/main">
            <a:r>
              <a:rPr sz="1800"/>
              <a:t>被选中的动作才成为独立 root action edge，排除动作的访问数保持为零。</a:t>
            </a:r>
            <a:endParaRPr sz="1800"/>
          </a:p>
          <a:p xmlns:a="http://schemas.openxmlformats.org/drawingml/2006/main">
            <a:r>
              <a:rPr sz="1800"/>
              <a:t>[Sources]</a:t>
            </a:r>
            <a:endParaRPr sz="1800"/>
          </a:p>
          <a:p xmlns:a="http://schemas.openxmlformats.org/drawingml/2006/main">
            <a:r>
              <a:rPr sz="1800"/>
              <a:t>- docs/competition/evidence/E2_QAOA_SCHEDULER_EVIDENCE.md</a:t>
            </a:r>
            <a:endParaRPr sz="1800"/>
          </a:p>
          <a:p xmlns:a="http://schemas.openxmlformats.org/drawingml/2006/main">
            <a:r>
              <a:rPr sz="1800"/>
              <a:t>- experiments/configs/xa202609/e2_qaoa_scheduler_v1.json</a:t>
            </a:r>
            <a:endParaRPr sz="1800"/>
          </a:p>
          <a:p xmlns:a="http://schemas.openxmlformats.org/drawingml/2006/main">
            <a:r>
              <a:rPr sz="1800"/>
              <a:t>- docs/papers/resource_nmcts/chinese/main.tex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/>
              <a:t>QAOA-shot 明显提高局部 exact-objective 命中并真实改变搜索轨迹。</a:t>
            </a:r>
            <a:endParaRPr sz="1800"/>
          </a:p>
          <a:p xmlns:a="http://schemas.openxmlformats.org/drawingml/2006/main">
            <a:r>
              <a:rPr sz="1800"/>
              <a:t>但最终资源分数的函数簇区间跨 1，因此不能表述为稳定资源收益或量子加速。</a:t>
            </a:r>
            <a:endParaRPr sz="1800"/>
          </a:p>
          <a:p xmlns:a="http://schemas.openxmlformats.org/drawingml/2006/main">
            <a:r>
              <a:rPr sz="1800"/>
              <a:t>[Sources]</a:t>
            </a:r>
            <a:endParaRPr sz="1800"/>
          </a:p>
          <a:p xmlns:a="http://schemas.openxmlformats.org/drawingml/2006/main">
            <a:r>
              <a:rPr sz="1800"/>
              <a:t>- docs/competition/evidence/E2_QAOA_SCHEDULER_EVIDENCE.md</a:t>
            </a:r>
            <a:endParaRPr sz="1800"/>
          </a:p>
          <a:p xmlns:a="http://schemas.openxmlformats.org/drawingml/2006/main">
            <a:r>
              <a:rPr sz="1800"/>
              <a:t>- experiments/results/xa202609/20260810-e2-qaoa-scheduler-v1-s120000/summary.json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/>
              <a:t>E3 将逻辑线路转换为 profile-specific 原生线路，并以实际 statevector Pauli trajectories 生成标签。</a:t>
            </a:r>
            <a:endParaRPr sz="1800"/>
          </a:p>
          <a:p xmlns:a="http://schemas.openxmlformats.org/drawingml/2006/main">
            <a:r>
              <a:rPr sz="1800"/>
              <a:t>Calibration 和 held-out test 完全隔离；test 标签不参与模型或反馈权重选择。</a:t>
            </a:r>
            <a:endParaRPr sz="1800"/>
          </a:p>
          <a:p xmlns:a="http://schemas.openxmlformats.org/drawingml/2006/main">
            <a:r>
              <a:rPr sz="1800"/>
              <a:t>[Sources]</a:t>
            </a:r>
            <a:endParaRPr sz="1800"/>
          </a:p>
          <a:p xmlns:a="http://schemas.openxmlformats.org/drawingml/2006/main">
            <a:r>
              <a:rPr sz="1800"/>
              <a:t>- docs/competition/evidence/E3_NATIVE_FEEDBACK_EVIDENCE.md</a:t>
            </a:r>
            <a:endParaRPr sz="1800"/>
          </a:p>
          <a:p xmlns:a="http://schemas.openxmlformats.org/drawingml/2006/main">
            <a:r>
              <a:rPr sz="1800"/>
              <a:t>- experiments/src/hardware/superconducting.py</a:t>
            </a:r>
            <a:endParaRPr sz="1800"/>
          </a:p>
          <a:p xmlns:a="http://schemas.openxmlformats.org/drawingml/2006/main">
            <a:r>
              <a:rPr sz="1800"/>
              <a:t>- experiments/src/hardware/noise.py</a:t>
            </a:r>
            <a:endParaRPr sz="1800"/>
          </a:p>
          <a:p xmlns:a="http://schemas.openxmlformats.org/drawingml/2006/main">
            <a:r>
              <a:rPr sz="1800"/>
              <a:t>- experiments/src/search/execution_feedback.py</a:t>
            </a:r>
            <a:endParaRPr sz="180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266700" algn="just">
              <a:buNone/>
            </a:pPr>
            <a:r>
              <a:t>Calibration 内 R²=0.8995，但 held-out NLL 主比较为正且区间跨零。</a:t>
            </a:r>
            <a:endParaRPr sz="1800" kern="100">
              <a:latin typeface="Calibri"/>
              <a:ea typeface="Calibri"/>
              <a:cs typeface="Calibri"/>
            </a:endParaRPr>
          </a:p>
          <a:p xmlns:a="http://schemas.openxmlformats.org/drawingml/2006/main">
            <a:r>
              <a:t>6→4→3 展示两层稀释：根动作可能收敛到同一 Plan，Plan 差异又可能被有限-shot 噪声稀释。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docs/competition/evidence/E3_NATIVE_FEEDBACK_EVIDENCE.md</a:t>
            </a:r>
            <a:endParaRPr/>
          </a:p>
          <a:p xmlns:a="http://schemas.openxmlformats.org/drawingml/2006/main">
            <a:r>
              <a:t>- experiments/results/xa202609/20260811-e3-cal-native-feedback-v1-s310000/summary.json</a:t>
            </a:r>
            <a:endParaRPr/>
          </a:p>
          <a:p xmlns:a="http://schemas.openxmlformats.org/drawingml/2006/main">
            <a:r>
              <a:t>- experiments/results/xa202609/20260811-e3-test-native-feedback-v1-s410000/summary.json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E4 仅证明同一冻结候选池中的局部目标命中改善：QAOA 8/8 vs greedy 3/8，且选择差异只有 4/8 传到 logical QASM。</a:t>
            </a:r>
            <a:endParaRPr/>
          </a:p>
          <a:p xmlns:a="http://schemas.openxmlformats.org/drawingml/2006/main">
            <a:r>
              <a:t>E4-v2 是 AES 已在 E4 出现后的 post-E4 frozen replication，不是 held-out。primary native-2q 差为 -513.9375，95% CI [-2059.0625, 589.9375] 跨 0，generalization_claim=false。</a:t>
            </a:r>
            <a:endParaRPr/>
          </a:p>
          <a:p xmlns:a="http://schemas.openxmlformats.org/drawingml/2006/main">
            <a:r>
              <a:t>E5-v1.1 虽生成 90 行 ASCON/PRESENT 矩阵，但 ASCON 可调度 group 为 0、PRESENT 为 6，family-activity gate 失败。独立 negative audit 重建 90/90 行，仍明确 protocol_acceptance=false。</a:t>
            </a:r>
            <a:endParaRPr/>
          </a:p>
          <a:p xmlns:a="http://schemas.openxmlformats.org/drawingml/2006/main">
            <a:r>
              <a:t>因此 E5 没有 accepted endpoint，E4-v2 也没有支持性能改善。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experiments/results/xa202609/20260812-e4-aes-bidirectional-pilot-v1-s520000/summary.json</a:t>
            </a:r>
            <a:endParaRPr/>
          </a:p>
          <a:p xmlns:a="http://schemas.openxmlformats.org/drawingml/2006/main">
            <a:r>
              <a:t>- experiments/results/xa202609/20260812-e4-v2-frozen-replication-v1-s530000-test/summary.json</a:t>
            </a:r>
            <a:endParaRPr/>
          </a:p>
          <a:p xmlns:a="http://schemas.openxmlformats.org/drawingml/2006/main">
            <a:r>
              <a:t>- experiments/results/xa202609/20260812-e4-v2-frozen-replication-v1-s530000-test/verifier.json</a:t>
            </a:r>
            <a:endParaRPr/>
          </a:p>
          <a:p xmlns:a="http://schemas.openxmlformats.org/drawingml/2006/main">
            <a:r>
              <a:t>- experiments/results/xa202609/20260812-e5-v11-ascon-primary-present-secondary-v1-s940000/summary.json</a:t>
            </a:r>
            <a:endParaRPr/>
          </a:p>
          <a:p xmlns:a="http://schemas.openxmlformats.org/drawingml/2006/main">
            <a:r>
              <a:t>- experiments/results/xa202609/20260812-e5-v11-negative-audit-v1-s950000/summary.json</a:t>
            </a:r>
            <a:endParaRPr/>
          </a:p>
          <a:p xmlns:a="http://schemas.openxmlformats.org/drawingml/2006/main">
            <a:r>
              <a:t>- experiments/results/xa202609/20260812-e5-v11-negative-audit-v1-s950000/verifier.json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分层验证把语义正确性、调度实现、原生门与 bundle 完整性分别交给独立检查。</a:t>
            </a:r>
            <a:endParaRPr/>
          </a:p>
          <a:p xmlns:a="http://schemas.openxmlformats.org/drawingml/2006/main">
            <a:r>
              <a:t>当前集成树回归为 407 passed in 334.05s；legacy smoke 为 smoke ok。</a:t>
            </a:r>
            <a:endParaRPr/>
          </a:p>
          <a:p xmlns:a="http://schemas.openxmlformats.org/drawingml/2006/main">
            <a:r>
              <a:t>锚定 fresh-validation V2 的 383 passed in 295.779s 仅为历史冻结锚定，不代表当前集成树。</a:t>
            </a:r>
            <a:endParaRPr/>
          </a:p>
          <a:p xmlns:a="http://schemas.openxmlformats.org/drawingml/2006/main">
            <a:r>
              <a:t>交付外层检查记录 E4-v2 calibration 26/26、replication 32/32，E5 V3 current/fresh 20/20、fresh-v2 19/19；这些数字只表示证据链检查通过，不是性能成功率。</a:t>
            </a:r>
            <a:endParaRPr/>
          </a:p>
          <a:p xmlns:a="http://schemas.openxmlformats.org/drawingml/2006/main">
            <a:r>
              <a:t>E4-v2 calibration 只使用 12 个非 AES 函数和 72 个候选记录；replication 是 AES 已见坐标上的 64 条 post-E4 四臂复验。E5 portable V3 与 fresh-v2 只闭合跨 build 软件验证，仍明确 protocol_acceptance=false、experiment_completed=false，没有 accepted endpoint。</a:t>
            </a:r>
            <a:endParaRPr/>
          </a:p>
          <a:p xmlns:a="http://schemas.openxmlformats.org/drawingml/2006/main">
            <a:r>
              <a:t>35 页唯一中文主稿已同步 Overleaf origin/main c5c6993d1589469a61dfe18000a313d798b1c02f；本地 PDF SHA-256 为 f6a19cf8a7d2e245505777838a934f30219b378a063703784bf6cf535f908d8f。</a:t>
            </a:r>
            <a:endParaRPr/>
          </a:p>
          <a:p xmlns:a="http://schemas.openxmlformats.org/drawingml/2006/main">
            <a:r>
              <a:t>所有执行证据仍为 synthetic profile，hardware=false；无真机、量子加速或量子优势主张。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docs/contracts/COMPETITION_ACCEPTANCE_MATRIX.json</a:t>
            </a:r>
            <a:endParaRPr/>
          </a:p>
          <a:p xmlns:a="http://schemas.openxmlformats.org/drawingml/2006/main">
            <a:r>
              <a:t>- experiments/results/xa202609/20260812-e4-v2-frozen-replication-v1-s530000-cal/verifier.json</a:t>
            </a:r>
            <a:endParaRPr/>
          </a:p>
          <a:p xmlns:a="http://schemas.openxmlformats.org/drawingml/2006/main">
            <a:r>
              <a:t>- experiments/results/xa202609/20260812-e4-v2-frozen-replication-v1-s530000-test/verifier.json</a:t>
            </a:r>
            <a:endParaRPr/>
          </a:p>
          <a:p xmlns:a="http://schemas.openxmlformats.org/drawingml/2006/main">
            <a:r>
              <a:t>- experiments/results/xa202609/20260812-e5-v11-portable-negative-audit-v3-s950000/verifier.json</a:t>
            </a:r>
            <a:endParaRPr/>
          </a:p>
          <a:p xmlns:a="http://schemas.openxmlformats.org/drawingml/2006/main">
            <a:r>
              <a:t>- experiments/results/xa202609/20260812-e5-v11-portable-fresh-validation-v2-s970000/verifier.json</a:t>
            </a:r>
            <a:endParaRPr/>
          </a:p>
          <a:p xmlns:a="http://schemas.openxmlformats.org/drawingml/2006/main">
            <a:r>
              <a:t>- docs/papers/resource_nmcts/chinese/main.tex</a:t>
            </a:r>
            <a:endParaRPr/>
          </a:p>
          <a:p xmlns:a="http://schemas.openxmlformats.org/drawingml/2006/main">
            <a:r>
              <a:t>- docs/papers/resource_nmcts/overleaf/worktree (origin/main c5c6993d1589469a61dfe18000a313d798b1c02f)</a:t>
            </a:r>
            <a:endParaRPr/>
          </a:p>
          <a:p xmlns:a="http://schemas.openxmlformats.org/drawingml/2006/main">
            <a:r>
              <a:t>- docs/papers/resource_nmcts/chinese/resource_nmcts_competition_current.pdf (SHA-256 f6a19cf8a7d2e245505777838a934f30219b378a063703784bf6cf535f908d8f)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已闭合的贡献是：等变 policy 的结构先验、同池同预算 QAOA 的局部调度证据，以及独立验证器对语义/执行主张的约束。</a:t>
            </a:r>
            <a:endParaRPr/>
          </a:p>
          <a:p xmlns:a="http://schemas.openxmlformats.org/drawingml/2006/main">
            <a:r>
              <a:t>E4-v2 和 E5 表明端点改善并未验收：前者区间跨 0，后者协议验收失败。</a:t>
            </a:r>
            <a:endParaRPr/>
          </a:p>
          <a:p xmlns:a="http://schemas.openxmlformats.org/drawingml/2006/main">
            <a:r>
              <a:t>E6-MSO 是下一个可证伪问题：跨输出共享表达与同池 QAOA，但当前仅有 mechanism MVP。output-permutation-equivariant shared head、QAOA replay 和锁后未见 S-box formal bundle 都未完成。</a:t>
            </a:r>
            <a:endParaRPr/>
          </a:p>
          <a:p xmlns:a="http://schemas.openxmlformats.org/drawingml/2006/main">
            <a:r>
              <a:t>这里的资源计数仅指 abstract logical X/CNOT/MCT proxy，不是分解后或硬件精确门数。</a:t>
            </a:r>
            <a:endParaRPr/>
          </a:p>
          <a:p xmlns:a="http://schemas.openxmlformats.org/drawingml/2006/main">
            <a:r>
              <a:t>598→581 不是正式性能证据；不主张真机结果、量子加速或量子优势。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docs/papers/resource_nmcts/chinese/main.tex</a:t>
            </a:r>
            <a:endParaRPr/>
          </a:p>
          <a:p xmlns:a="http://schemas.openxmlformats.org/drawingml/2006/main">
            <a:r>
              <a:t>- docs/project/PROJECT_STATUS_XA202609.md</a:t>
            </a:r>
            <a:endParaRPr/>
          </a:p>
          <a:p xmlns:a="http://schemas.openxmlformats.org/drawingml/2006/main">
            <a:r>
              <a:t>- docs/planning/EXPERIMENT_ROADMAP_XA202609.md</a:t>
            </a:r>
            <a:endParaRPr/>
          </a:p>
          <a:p xmlns:a="http://schemas.openxmlformats.org/drawingml/2006/main">
            <a:r>
              <a:t>- docs/contracts/COMPETITION_ACCEPTANCE_MATRIX.json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收束：双向赋能不是把 AI 与 QAOA 并列堆叠，而是让二者在同一搜索预算接口上接受语义和端点检验。</a:t>
            </a:r>
            <a:endParaRPr/>
          </a:p>
          <a:p xmlns:a="http://schemas.openxmlformats.org/drawingml/2006/main">
            <a:r>
              <a:t>当前证据支持局部机制，也通过 E4-v2 跨零区间和 E5 协议失败明确终止过度主张。</a:t>
            </a:r>
            <a:endParaRPr/>
          </a:p>
          <a:p xmlns:a="http://schemas.openxmlformats.org/drawingml/2006/main">
            <a:r>
              <a:t>下一研究门是 E6-MSO，必须在 shared head、QAOA replay 与锁后 formal blind result 全部就位后才升级性能主张。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docs/papers/resource_nmcts/chinese/main.tex</a:t>
            </a:r>
            <a:endParaRPr/>
          </a:p>
          <a:p xmlns:a="http://schemas.openxmlformats.org/drawingml/2006/main">
            <a:r>
              <a:t>- docs/project/PROJECT_STATUS_XA202609.md</a:t>
            </a:r>
            <a:endParaRPr/>
          </a:p>
          <a:p xmlns:a="http://schemas.openxmlformats.org/drawingml/2006/main">
            <a:r>
              <a:t>- docs/planning/EXPERIMENT_ROADMAP_XA202609.md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15eca1d69448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1911700724e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d4737023746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f38978e204c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f50f07488e44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c96ed053e452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8417bcd42419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b3c3a5dad049a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7337ee9df94df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96fd6272e467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6ab6ab8c54452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7514E1-1E8F-4EED-887D-12A3D5C397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7C1D291-9B9D-475A-9442-69B45A6AC1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AB7E3A7-D937-445E-A6DA-E71701AD80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97A31D-ACD8-407A-993A-E0F287EF95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18D6457-CFED-4D12-908A-41EF3CA1AC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7EED4EF-6FFD-4788-B0B1-045F8625E1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A5F6E35-7D7B-43DF-BB17-8B6EE84F19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12EF740-1249-4499-9E8D-917B13CDFD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D7E80CA-4A7C-49AF-9952-E1B55C0E50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4E1F003-B78C-4BB4-8E74-D7A4738C10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F01AED-FD48-40C8-AFEC-3FCF039A7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C715949-C97B-4C21-82F9-362833DB2C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DFE727-F1CC-4614-9E7E-69E3125A1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7461755-11E2-4FFC-B37F-A9B36BE6F9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6E5B6E2-1F5C-48D7-94B7-49E5652086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7A1BCE8-B713-40E6-AE73-4E55C6ACFB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6367DEB-BC27-4EF8-82A1-75F8468FDF9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AFB6896-C2E3-4957-A834-C397255D496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69EE2C2-492B-442C-A004-BFE06FCD65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9EB2FE2-6858-48AA-AA77-0A3C735166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2DB95F6-8154-4256-8801-39776C66AE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1EB8765-039E-464D-83C2-C46569B364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6A2ACA9-B854-4B2D-A039-1FB6EFEAE6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272FF90-ACC5-489C-A2FD-8E3A870047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A2153D8-C2FC-4755-81FF-DF9AA3FD5A9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09FAB23-CF44-4BED-B283-40598974073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76BECB2-F1F2-4A78-A08C-BFCA8E7A62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B4BDD83-FFA8-42C5-9BB5-778FC9290E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27DB210-C98B-4CF5-85AF-D3EB4A81ED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553E39-C926-421E-80B3-EB09500174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A95986-DAE6-42D2-A56B-423099846E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5D3D918-AC15-4038-89B5-6BD08919E6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73397F9-A5A4-4CD7-8BDE-AC988A6B1C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F0E690D-C0D4-4DF1-AA3D-12DB793FD4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698281F-3AD0-4FD7-BE9A-8B51940497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9256186-C970-4552-A0AC-4B859D350F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73E1F0E-9FB4-4373-8B17-26A14751E4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4D3586D-1E99-4853-ADCB-EF753476E59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F314992-2EE9-49DA-861A-4E65A88BBB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6C98232-F8A0-4F95-A24C-DED0DBD40C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D763997-A0CA-432B-946B-B5A84670DE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F816886-E214-44AC-8343-BC273A7875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A6DA1FD-7AC9-452E-A7BB-544D7CFB1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CD29417-9883-4991-B7ED-523F62E5252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1C61055-D3EB-4475-8A83-52C08DA9B9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0070A08-95F6-4110-BD73-34CFB68DB0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F61C2DA-22B8-4022-9758-F6A95F9295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80A9F88-86D9-4CF0-B84D-FD8FBFF87B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F32789F-869D-4924-ACC3-24985F5BF8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3B730B9-C847-4EBF-8786-B8FABE0FD4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683569-452B-42D2-9ED6-4BDE115CFB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AE24CA-AE13-43C6-8CD9-511665FB9B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D2BC43-26D8-470D-AB73-B0062940FE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4B19EF9-2F8F-465B-A8D2-BF3402A710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6868D12-AE6D-48A8-8B06-0D4CA95BCB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539D54A-F808-4020-BAD1-CDAAEAB809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7DF3C6F-0548-4E4A-8959-B164FFAEAD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3686BD8-F5CD-46AB-90CF-7AF75BAC8A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c1abec5c06431d" /><Relationship Type="http://schemas.openxmlformats.org/officeDocument/2006/relationships/slideLayout" Target="/ppt/slideLayouts/slideLayout1.xml" Id="R36415f1b17464997" /><Relationship Type="http://schemas.openxmlformats.org/officeDocument/2006/relationships/slideLayout" Target="/ppt/slideLayouts/slideLayout2.xml" Id="Rd6a8d64547804fed" /><Relationship Type="http://schemas.openxmlformats.org/officeDocument/2006/relationships/slideLayout" Target="/ppt/slideLayouts/slideLayout3.xml" Id="R07cd5547008f40c1" /><Relationship Type="http://schemas.openxmlformats.org/officeDocument/2006/relationships/slideLayout" Target="/ppt/slideLayouts/slideLayout4.xml" Id="Rd48dcb663f2d429e" /><Relationship Type="http://schemas.openxmlformats.org/officeDocument/2006/relationships/slideLayout" Target="/ppt/slideLayouts/slideLayout5.xml" Id="Rc86bcff6bd974a07" /><Relationship Type="http://schemas.openxmlformats.org/officeDocument/2006/relationships/slideLayout" Target="/ppt/slideLayouts/slideLayout6.xml" Id="Rd701c2ce861d4bf3" /><Relationship Type="http://schemas.openxmlformats.org/officeDocument/2006/relationships/slideLayout" Target="/ppt/slideLayouts/slideLayout7.xml" Id="Re196f0939cff451b" /><Relationship Type="http://schemas.openxmlformats.org/officeDocument/2006/relationships/slideLayout" Target="/ppt/slideLayouts/slideLayout8.xml" Id="R214048f6a4ce4fa5" /><Relationship Type="http://schemas.openxmlformats.org/officeDocument/2006/relationships/slideLayout" Target="/ppt/slideLayouts/slideLayout9.xml" Id="R7bd0f744d1834010" /><Relationship Type="http://schemas.openxmlformats.org/officeDocument/2006/relationships/slideLayout" Target="/ppt/slideLayouts/slideLayout10.xml" Id="R4d68a894e01b43bd" /><Relationship Type="http://schemas.openxmlformats.org/officeDocument/2006/relationships/slideLayout" Target="/ppt/slideLayouts/slideLayout11.xml" Id="Rf1a0b6568e164fc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A706EF8-B266-40A7-8D5B-55321DC7AE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E950F9E-71A3-4327-94BD-C722A4BD7A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40A1895-835D-4849-B6FC-106AE2A197C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AA8113-5D11-4369-8711-1F30FC09B81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9D0A9E5-ECE6-418E-A6DE-77E9A8E4EC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415f1b17464997"/>
    <p:sldLayoutId xmlns:r="http://schemas.openxmlformats.org/officeDocument/2006/relationships" id="2147483650" r:id="Rd6a8d64547804fed"/>
    <p:sldLayoutId xmlns:r="http://schemas.openxmlformats.org/officeDocument/2006/relationships" id="2147483651" r:id="R07cd5547008f40c1"/>
    <p:sldLayoutId xmlns:r="http://schemas.openxmlformats.org/officeDocument/2006/relationships" id="2147483652" r:id="Rd48dcb663f2d429e"/>
    <p:sldLayoutId xmlns:r="http://schemas.openxmlformats.org/officeDocument/2006/relationships" id="2147483653" r:id="Rc86bcff6bd974a07"/>
    <p:sldLayoutId xmlns:r="http://schemas.openxmlformats.org/officeDocument/2006/relationships" id="2147483654" r:id="Rd701c2ce861d4bf3"/>
    <p:sldLayoutId xmlns:r="http://schemas.openxmlformats.org/officeDocument/2006/relationships" id="2147483655" r:id="Re196f0939cff451b"/>
    <p:sldLayoutId xmlns:r="http://schemas.openxmlformats.org/officeDocument/2006/relationships" id="2147483656" r:id="R214048f6a4ce4fa5"/>
    <p:sldLayoutId xmlns:r="http://schemas.openxmlformats.org/officeDocument/2006/relationships" id="2147483657" r:id="R7bd0f744d1834010"/>
    <p:sldLayoutId xmlns:r="http://schemas.openxmlformats.org/officeDocument/2006/relationships" id="2147483658" r:id="R4d68a894e01b43bd"/>
    <p:sldLayoutId xmlns:r="http://schemas.openxmlformats.org/officeDocument/2006/relationships" id="2147483659" r:id="Rf1a0b6568e164fc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a4c7be1ad48a1" /><Relationship Type="http://schemas.openxmlformats.org/officeDocument/2006/relationships/image" Target="/ppt/media/image.png" Id="Rd4a0bf6540fa4819" /><Relationship Type="http://schemas.openxmlformats.org/officeDocument/2006/relationships/image" Target="/ppt/media/image2.png" Id="Ra4b86db36b6c4c77" /><Relationship Type="http://schemas.openxmlformats.org/officeDocument/2006/relationships/notesSlide" Target="/ppt/notesSlides/notesSlide1.xml" Id="R45329fc7284240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a46be0cd4468c" /><Relationship Type="http://schemas.openxmlformats.org/officeDocument/2006/relationships/image" Target="/ppt/media/image.png" Id="R3caef6bc809849a7" /><Relationship Type="http://schemas.openxmlformats.org/officeDocument/2006/relationships/image" Target="/ppt/media/image3.png" Id="Rfe71c4e4747a439a" /><Relationship Type="http://schemas.openxmlformats.org/officeDocument/2006/relationships/image" Target="/ppt/media/image4.png" Id="R859b9ca1cf634499" /><Relationship Type="http://schemas.openxmlformats.org/officeDocument/2006/relationships/notesSlide" Target="/ppt/notesSlides/notesSlide2.xml" Id="R203a5d7be71a48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49640abd74f83" /><Relationship Type="http://schemas.openxmlformats.org/officeDocument/2006/relationships/image" Target="/ppt/media/image.png" Id="Rd3d47de895404fe9" /><Relationship Type="http://schemas.openxmlformats.org/officeDocument/2006/relationships/notesSlide" Target="/ppt/notesSlides/notesSlide3.xml" Id="R28a6dbcb452240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4b296dc324021" /><Relationship Type="http://schemas.openxmlformats.org/officeDocument/2006/relationships/image" Target="/ppt/media/image.png" Id="Rbb4fc88ebdc14efb" /><Relationship Type="http://schemas.openxmlformats.org/officeDocument/2006/relationships/notesSlide" Target="/ppt/notesSlides/notesSlide4.xml" Id="R9bc22c75a34241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e4b550ca94eeb" /><Relationship Type="http://schemas.openxmlformats.org/officeDocument/2006/relationships/image" Target="/ppt/media/image.png" Id="Rcb760e75cc6e4062" /><Relationship Type="http://schemas.openxmlformats.org/officeDocument/2006/relationships/image" Target="/ppt/media/image5.png" Id="R938ef455c6434162" /><Relationship Type="http://schemas.openxmlformats.org/officeDocument/2006/relationships/image" Target="/ppt/media/image6.png" Id="Re1e9b252da6941b4" /><Relationship Type="http://schemas.openxmlformats.org/officeDocument/2006/relationships/image" Target="/ppt/media/image7.png" Id="R9643ae93e81248d0" /><Relationship Type="http://schemas.openxmlformats.org/officeDocument/2006/relationships/notesSlide" Target="/ppt/notesSlides/notesSlide5.xml" Id="R84eb8aaabb0c46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2fe44b9dd4247" /><Relationship Type="http://schemas.openxmlformats.org/officeDocument/2006/relationships/image" Target="/ppt/media/image.png" Id="R509cf37ef8f74d6d" /><Relationship Type="http://schemas.openxmlformats.org/officeDocument/2006/relationships/chart" Target="/ppt/slides/charts/chart1.xml" Id="Rb8e08b3793af4fd0" /><Relationship Type="http://schemas.openxmlformats.org/officeDocument/2006/relationships/chart" Target="/ppt/slides/charts/chart2.xml" Id="R5235f479ae974be4" /><Relationship Type="http://schemas.openxmlformats.org/officeDocument/2006/relationships/notesSlide" Target="/ppt/notesSlides/notesSlide6.xml" Id="Ra63f1b23041144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17e9cc51b4023" /><Relationship Type="http://schemas.openxmlformats.org/officeDocument/2006/relationships/image" Target="/ppt/media/image.png" Id="Rf8dd8c57ef464045" /><Relationship Type="http://schemas.openxmlformats.org/officeDocument/2006/relationships/image" Target="/ppt/media/image.jpeg" Id="R07d874d63ab04d27" /><Relationship Type="http://schemas.openxmlformats.org/officeDocument/2006/relationships/image" Target="/ppt/media/image8.png" Id="R1abca4bb588f47ed" /><Relationship Type="http://schemas.openxmlformats.org/officeDocument/2006/relationships/notesSlide" Target="/ppt/notesSlides/notesSlide7.xml" Id="R9005c311968247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c5e830bc84592" /><Relationship Type="http://schemas.openxmlformats.org/officeDocument/2006/relationships/image" Target="/ppt/media/image.png" Id="Ra91fcda1aea44c3e" /><Relationship Type="http://schemas.openxmlformats.org/officeDocument/2006/relationships/chart" Target="/ppt/slides/charts/chart3.xml" Id="R742934ee2cdc48cd" /><Relationship Type="http://schemas.openxmlformats.org/officeDocument/2006/relationships/notesSlide" Target="/ppt/notesSlides/notesSlide8.xml" Id="Re6160cd9d50d4f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49134ff9f406d" /><Relationship Type="http://schemas.openxmlformats.org/officeDocument/2006/relationships/image" Target="/ppt/media/image.png" Id="R73a1602d59344d76" /><Relationship Type="http://schemas.openxmlformats.org/officeDocument/2006/relationships/notesSlide" Target="/ppt/notesSlides/notesSlide9.xml" Id="R3ef668f4da594c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3696590c443b0" /><Relationship Type="http://schemas.openxmlformats.org/officeDocument/2006/relationships/image" Target="/ppt/media/image.png" Id="R7efe482fe65c42ba" /><Relationship Type="http://schemas.openxmlformats.org/officeDocument/2006/relationships/chart" Target="/ppt/slides/charts/chart4.xml" Id="Rfd543581f21340d8" /><Relationship Type="http://schemas.openxmlformats.org/officeDocument/2006/relationships/notesSlide" Target="/ppt/notesSlides/notesSlide10.xml" Id="R55776fe28a5844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a51c398c04c5d" /><Relationship Type="http://schemas.openxmlformats.org/officeDocument/2006/relationships/image" Target="/ppt/media/image.png" Id="R9a53788d03d247af" /><Relationship Type="http://schemas.openxmlformats.org/officeDocument/2006/relationships/chart" Target="/ppt/slides/charts/chart5.xml" Id="Re4fdb68fdac44e27" /><Relationship Type="http://schemas.openxmlformats.org/officeDocument/2006/relationships/notesSlide" Target="/ppt/notesSlides/notesSlide11.xml" Id="R6d9a5d870c914d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079d0b72a4ae8" /><Relationship Type="http://schemas.openxmlformats.org/officeDocument/2006/relationships/image" Target="/ppt/media/image.png" Id="R522cada8b8634ff4" /><Relationship Type="http://schemas.openxmlformats.org/officeDocument/2006/relationships/image" Target="/ppt/media/image9.png" Id="R2de5db92788f4713" /><Relationship Type="http://schemas.openxmlformats.org/officeDocument/2006/relationships/image" Target="/ppt/media/image10.png" Id="Rbb3d167758f74aa2" /><Relationship Type="http://schemas.openxmlformats.org/officeDocument/2006/relationships/notesSlide" Target="/ppt/notesSlides/notesSlide12.xml" Id="R670796631f044d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fba90ac65447c" /><Relationship Type="http://schemas.openxmlformats.org/officeDocument/2006/relationships/image" Target="/ppt/media/image.png" Id="R80ea6f14d560401d" /><Relationship Type="http://schemas.openxmlformats.org/officeDocument/2006/relationships/notesSlide" Target="/ppt/notesSlides/notesSlide13.xml" Id="Ra9535ca21e7c41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da99a7f1c4699" /><Relationship Type="http://schemas.openxmlformats.org/officeDocument/2006/relationships/image" Target="/ppt/media/image.png" Id="Rf9b87d60ea594095" /><Relationship Type="http://schemas.openxmlformats.org/officeDocument/2006/relationships/notesSlide" Target="/ppt/notesSlides/notesSlide14.xml" Id="R91a10274ff9f43a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score/C0</c:v>
          </c:tx>
          <c:spPr>
            <a:solidFill xmlns:a="http://schemas.openxmlformats.org/drawingml/2006/main">
              <a:srgbClr val="2F559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C8D5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56A2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81D31"/>
              </a:solidFill>
            </c:spPr>
          </c:dPt>
          <c:cat>
            <c:strLit>
              <c:ptCount val="3"/>
              <c:pt idx="0">
                <c:v>policy</c:v>
              </c:pt>
              <c:pt idx="1">
                <c:v>value</c:v>
              </c:pt>
              <c:pt idx="2">
                <c:v>policy+value</c:v>
              </c:pt>
            </c:strLit>
          </c:cat>
          <c:val>
            <c:numLit>
              <c:formatCode>0.0000</c:formatCode>
              <c:ptCount val="3"/>
              <c:pt idx="0">
                <c:v>0.981169</c:v>
              </c:pt>
              <c:pt idx="1">
                <c:v>1.007893</c:v>
              </c:pt>
              <c:pt idx="2">
                <c:v>1.002635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.02"/>
          <c:min val="0.9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.0000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5E7EB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7B7B7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policy gate</c:v>
          </c:tx>
          <c:spPr>
            <a:ln xmlns:a="http://schemas.openxmlformats.org/drawingml/2006/main" w="28575">
              <a:solidFill>
                <a:srgbClr val="3C8D5A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C8D5A"/>
              </a:solidFill>
            </c:spPr>
          </c:marker>
          <c:cat>
            <c:strLit>
              <c:ptCount val="3"/>
              <c:pt idx="0">
                <c:v>CI low</c:v>
              </c:pt>
              <c:pt idx="1">
                <c:v>estimate</c:v>
              </c:pt>
              <c:pt idx="2">
                <c:v>CI high</c:v>
              </c:pt>
            </c:strLit>
          </c:cat>
          <c:val>
            <c:numLit>
              <c:formatCode>0.0000</c:formatCode>
              <c:ptCount val="3"/>
              <c:pt idx="0">
                <c:v>0.93739</c:v>
              </c:pt>
              <c:pt idx="1">
                <c:v>0.96415</c:v>
              </c:pt>
              <c:pt idx="2">
                <c:v>0.9897</c:v>
              </c:pt>
            </c:numLit>
          </c:val>
        </c:ser>
        <c:ser>
          <c:idx val="1"/>
          <c:order val="1"/>
          <c:tx>
            <c:v>neutral=1</c:v>
          </c:tx>
          <c:spPr>
            <a:ln xmlns:a="http://schemas.openxmlformats.org/drawingml/2006/main" w="19050">
              <a:solidFill>
                <a:srgbClr val="9CA3AF"/>
              </a:solidFill>
              <a:prstDash val="dash"/>
            </a:ln>
          </c:spPr>
          <c:marker>
            <c:symbol val="none"/>
          </c:marker>
          <c:cat>
            <c:strLit>
              <c:ptCount val="3"/>
              <c:pt idx="0">
                <c:v>CI low</c:v>
              </c:pt>
              <c:pt idx="1">
                <c:v>estimate</c:v>
              </c:pt>
              <c:pt idx="2">
                <c:v>CI high</c:v>
              </c:pt>
            </c:strLit>
          </c:cat>
          <c:val>
            <c:numLit>
              <c:formatCode>0.0000</c:formatCode>
              <c:ptCount val="3"/>
              <c:pt idx="0">
                <c:v>1</c:v>
              </c:pt>
              <c:pt idx="1">
                <c:v>1</c:v>
              </c:pt>
              <c:pt idx="2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82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.01"/>
          <c:min val="0.9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.0000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5E7EB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11182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7B7B7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exact hit (%)</c:v>
          </c:tx>
          <c:spPr>
            <a:solidFill xmlns:a="http://schemas.openxmlformats.org/drawingml/2006/main">
              <a:srgbClr val="2F559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CA3A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F5597"/>
              </a:solidFill>
            </c:spPr>
          </c:dPt>
          <c:cat>
            <c:strLit>
              <c:ptCount val="2"/>
              <c:pt idx="0">
                <c:v>Greedy</c:v>
              </c:pt>
              <c:pt idx="1">
                <c:v>QAOA-shot</c:v>
              </c:pt>
            </c:strLit>
          </c:cat>
          <c:val>
            <c:numLit>
              <c:formatCode>0.0</c:formatCode>
              <c:ptCount val="2"/>
              <c:pt idx="0">
                <c:v>65</c:v>
              </c:pt>
              <c:pt idx="1">
                <c:v>81.7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5E7EB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7B7B7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NLL Δ</c:v>
          </c:tx>
          <c:spPr>
            <a:ln xmlns:a="http://schemas.openxmlformats.org/drawingml/2006/main" w="28575">
              <a:solidFill>
                <a:srgbClr val="C81D31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C81D31"/>
              </a:solidFill>
            </c:spPr>
          </c:marker>
          <c:cat>
            <c:strLit>
              <c:ptCount val="3"/>
              <c:pt idx="0">
                <c:v>CI low</c:v>
              </c:pt>
              <c:pt idx="1">
                <c:v>estimate</c:v>
              </c:pt>
              <c:pt idx="2">
                <c:v>CI high</c:v>
              </c:pt>
            </c:strLit>
          </c:cat>
          <c:val>
            <c:numLit>
              <c:formatCode>0.0000</c:formatCode>
              <c:ptCount val="3"/>
              <c:pt idx="0">
                <c:v>-0.00117</c:v>
              </c:pt>
              <c:pt idx="1">
                <c:v>0.001293</c:v>
              </c:pt>
              <c:pt idx="2">
                <c:v>0.004719</c:v>
              </c:pt>
            </c:numLit>
          </c:val>
        </c:ser>
        <c:ser>
          <c:idx val="1"/>
          <c:order val="1"/>
          <c:tx>
            <c:v>zero</c:v>
          </c:tx>
          <c:spPr>
            <a:ln xmlns:a="http://schemas.openxmlformats.org/drawingml/2006/main" w="19050">
              <a:solidFill>
                <a:srgbClr val="9CA3AF"/>
              </a:solidFill>
              <a:prstDash val="dash"/>
            </a:ln>
          </c:spPr>
          <c:marker>
            <c:symbol val="none"/>
          </c:marker>
          <c:cat>
            <c:strLit>
              <c:ptCount val="3"/>
              <c:pt idx="0">
                <c:v>CI low</c:v>
              </c:pt>
              <c:pt idx="1">
                <c:v>estimate</c:v>
              </c:pt>
              <c:pt idx="2">
                <c:v>CI high</c:v>
              </c:pt>
            </c:strLit>
          </c:cat>
          <c:val>
            <c:numLit>
              <c:formatCode>0.0000</c:formatCode>
              <c:ptCount val="3"/>
              <c:pt idx="0">
                <c:v>0</c:v>
              </c:pt>
              <c:pt idx="1">
                <c:v>0</c:v>
              </c:pt>
              <c:pt idx="2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82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006"/>
          <c:min val="-0.00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.0000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0.00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5E7EB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11182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7B7B7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native 2q Δ</c:v>
          </c:tx>
          <c:spPr>
            <a:ln xmlns:a="http://schemas.openxmlformats.org/drawingml/2006/main" w="28575">
              <a:solidFill>
                <a:srgbClr val="C81D31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C81D31"/>
              </a:solidFill>
            </c:spPr>
          </c:marker>
          <c:cat>
            <c:strLit>
              <c:ptCount val="3"/>
              <c:pt idx="0">
                <c:v>CI low</c:v>
              </c:pt>
              <c:pt idx="1">
                <c:v>mean Δ</c:v>
              </c:pt>
              <c:pt idx="2">
                <c:v>CI high</c:v>
              </c:pt>
            </c:strLit>
          </c:cat>
          <c:val>
            <c:numLit>
              <c:formatCode>0</c:formatCode>
              <c:ptCount val="3"/>
              <c:pt idx="0">
                <c:v>-2059.0625</c:v>
              </c:pt>
              <c:pt idx="1">
                <c:v>-513.9375</c:v>
              </c:pt>
              <c:pt idx="2">
                <c:v>589.9375</c:v>
              </c:pt>
            </c:numLit>
          </c:val>
        </c:ser>
        <c:ser>
          <c:idx val="1"/>
          <c:order val="1"/>
          <c:tx>
            <c:v>zero</c:v>
          </c:tx>
          <c:spPr>
            <a:ln xmlns:a="http://schemas.openxmlformats.org/drawingml/2006/main" w="19050">
              <a:solidFill>
                <a:srgbClr val="9CA3AF"/>
              </a:solidFill>
              <a:prstDash val="dash"/>
            </a:ln>
          </c:spPr>
          <c:marker>
            <c:symbol val="none"/>
          </c:marker>
          <c:cat>
            <c:strLit>
              <c:ptCount val="3"/>
              <c:pt idx="0">
                <c:v>CI low</c:v>
              </c:pt>
              <c:pt idx="1">
                <c:v>mean Δ</c:v>
              </c:pt>
              <c:pt idx="2">
                <c:v>CI high</c:v>
              </c:pt>
            </c:strLit>
          </c:cat>
          <c:val>
            <c:numLit>
              <c:formatCode>0</c:formatCode>
              <c:ptCount val="3"/>
              <c:pt idx="0">
                <c:v>0</c:v>
              </c:pt>
              <c:pt idx="1">
                <c:v>0</c:v>
              </c:pt>
              <c:pt idx="2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82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0"/>
          <c:min val="-25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1D5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50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5E7EB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11182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7B7B7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22C28C8-BC84-4604-81DF-D25EA578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445" y="1137285"/>
            <a:ext cx="12210415" cy="2920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0">
              <a:alpha val="100000"/>
            </a:srgbClr>
          </a:solidFill>
          <a:ln xmlns:a="http://schemas.openxmlformats.org/drawingml/2006/main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7200" b="1">
                <a:latin typeface="黑体"/>
                <a:ea typeface="黑体"/>
                <a:cs typeface="黑体"/>
              </a:rPr>
              <a:t>面向密码 Boolean Oracle 的</a:t>
            </a:r>
            <a:endParaRPr sz="7200" b="1">
              <a:latin typeface="黑体"/>
              <a:ea typeface="黑体"/>
              <a:cs typeface="黑体"/>
            </a:endParaRP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7200" b="1">
                <a:latin typeface="黑体"/>
                <a:ea typeface="黑体"/>
                <a:cs typeface="黑体"/>
              </a:rPr>
              <a:t>双向智能编译</a:t>
            </a:r>
            <a:endParaRPr sz="7200" b="1">
              <a:latin typeface="黑体"/>
              <a:ea typeface="黑体"/>
              <a:cs typeface="黑体"/>
            </a:endParaRPr>
          </a:p>
        </p:txBody>
      </p:sp>
      <p:pic>
        <p:nvPicPr>
          <p:cNvPr id="12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0bf6540fa48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44130" y="95250"/>
            <a:ext cx="4295775" cy="1041400"/>
          </a:xfrm>
          <a:prstGeom xmlns:a="http://schemas.openxmlformats.org/drawingml/2006/main" prst="rect">
            <a:avLst/>
          </a:prstGeom>
        </p:spPr>
      </p:pic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EBE56B1-7CDC-435F-81A3-3B3E557C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540" y="4048760"/>
            <a:ext cx="6995795" cy="2561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650" b="1">
                <a:solidFill>
                  <a:srgbClr val="C1121F"/>
                </a:solidFill>
                <a:latin typeface="微软雅黑"/>
                <a:ea typeface="微软雅黑"/>
                <a:cs typeface="微软雅黑"/>
              </a:rPr>
              <a:t>AI for Quantum：置换等变 Neural MCTS</a:t>
            </a:r>
            <a:endParaRPr sz="2000" b="1">
              <a:solidFill>
                <a:srgbClr val="C1121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650" b="1">
                <a:solidFill>
                  <a:srgbClr val="C1121F"/>
                </a:solidFill>
                <a:latin typeface="微软雅黑"/>
                <a:ea typeface="微软雅黑"/>
                <a:cs typeface="微软雅黑"/>
              </a:rPr>
              <a:t>Quantum for AI：QAOA 固定预算调度</a:t>
            </a:r>
            <a:endParaRPr sz="2000" b="1">
              <a:solidFill>
                <a:srgbClr val="C1121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650" b="1">
                <a:solidFill>
                  <a:srgbClr val="C1121F"/>
                </a:solidFill>
                <a:latin typeface="微软雅黑"/>
                <a:ea typeface="微软雅黑"/>
                <a:cs typeface="微软雅黑"/>
              </a:rPr>
              <a:t>执行闭环：原生门、路由与含噪反馈</a:t>
            </a:r>
            <a:endParaRPr sz="2000" b="1">
              <a:solidFill>
                <a:srgbClr val="C1121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650" b="1">
                <a:solidFill>
                  <a:srgbClr val="C1121F"/>
                </a:solidFill>
                <a:latin typeface="微软雅黑"/>
                <a:ea typeface="微软雅黑"/>
                <a:cs typeface="微软雅黑"/>
              </a:rPr>
              <a:t>XA-202609｜杭州电子科技大学｜周子翔</a:t>
            </a:r>
            <a:endParaRPr sz="2000" b="1">
              <a:solidFill>
                <a:srgbClr val="C1121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4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86db36b6c4c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255" y="4064000"/>
            <a:ext cx="4023360" cy="24695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6097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D895CEF-F621-4085-81D7-376DDEDE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445" y="1220470"/>
            <a:ext cx="122104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0">
              <a:alpha val="100000"/>
            </a:srgbClr>
          </a:solidFill>
          <a:ln xmlns:a="http://schemas.openxmlformats.org/drawingml/2006/main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42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ef6bc809849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9135" y="252095"/>
            <a:ext cx="3560445" cy="862965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34782C4-2E85-4826-AD23-57ED52B4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252095"/>
            <a:ext cx="72390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Tx/>
              <a:buNone/>
            </a:pPr>
            <a:r>
              <a:rPr sz="4800" b="1">
                <a:ln w="10160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/>
                <a:ea typeface="黑体"/>
                <a:cs typeface="黑体"/>
              </a:rPr>
              <a:t>三类错配约束编译</a:t>
            </a:r>
            <a:endParaRPr sz="4800" b="1">
              <a:ln w="10160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/>
              <a:ea typeface="黑体"/>
              <a:cs typeface="黑体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E466659E-416E-40C1-B3AE-499B7D04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391160"/>
            <a:ext cx="545465" cy="585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76200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sz="4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096274B-952B-4813-88E2-F25F6326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1372870"/>
            <a:ext cx="5678805" cy="12471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endParaRPr sz="24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51276E1-49CD-4A6A-84EA-CB611120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5923280"/>
            <a:ext cx="10972800" cy="5111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38100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350" b="1">
                <a:solidFill>
                  <a:schemeClr val="accent6">
                    <a:lumMod val="75000"/>
                  </a:schemeClr>
                </a:solidFill>
              </a:rPr>
              <a:t>等变 policy、QAOA 调度与执行反馈分别对应三类错配，并接受独立检验。</a:t>
            </a:r>
            <a:endParaRPr sz="2400" b="1">
              <a:solidFill>
                <a:schemeClr val="tx1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E9163B6-A0A8-4958-986F-7635F50C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1376680"/>
            <a:ext cx="10823575" cy="105537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38100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650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● 表示错配：变量重标号不改函数，却造成重复学习</a:t>
            </a:r>
            <a:endParaRPr sz="2400" b="1" baseline="30000">
              <a:solidFill>
                <a:srgbClr val="000000"/>
              </a:solidFill>
            </a:endParaRPr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650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● 搜索错配：高效用分支相互重叠，浪费固定预算</a:t>
            </a:r>
            <a:endParaRPr sz="2400" b="1">
              <a:solidFill>
                <a:schemeClr val="tx1"/>
              </a:solidFill>
            </a:endParaRPr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650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● 执行错配：逻辑 T/CNOT/depth 不等于含噪风险</a:t>
            </a:r>
            <a:endParaRPr sz="2400" b="1">
              <a:solidFill>
                <a:schemeClr val="tx1"/>
              </a:solidFill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10A79C4B-36BD-4058-8E33-5DFC81D2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550795"/>
            <a:ext cx="4870450" cy="317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 cmpd="sng">
            <a:solidFill>
              <a:srgbClr val="AFABAB">
                <a:alpha val="100000"/>
              </a:srgb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4C6B2FA-B624-48B2-A52D-459FFEEC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245" y="2539365"/>
            <a:ext cx="5295900" cy="317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 cmpd="sng">
            <a:solidFill>
              <a:srgbClr val="AFABAB">
                <a:alpha val="100000"/>
              </a:srgb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CDC4533-81EA-4470-A657-505A8B82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2090"/>
            <a:ext cx="12109450" cy="2959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75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证据：中文主稿 §1、§4；PROJECT_STATUS_XA202609</a:t>
            </a:r>
            <a:endParaRPr sz="1000">
              <a:solidFill>
                <a:srgbClr val="000000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1c4e4747a439a"/>
          <a:stretch xmlns:a="http://schemas.openxmlformats.org/drawingml/2006/main"/>
        </p:blipFill>
        <p:spPr>
          <a:xfrm xmlns:a="http://schemas.openxmlformats.org/drawingml/2006/main">
            <a:off x="901090" y="2647283"/>
            <a:ext cx="4422122" cy="3056287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b9ca1cf634499"/>
          <a:stretch xmlns:a="http://schemas.openxmlformats.org/drawingml/2006/main"/>
        </p:blipFill>
        <p:spPr>
          <a:xfrm xmlns:a="http://schemas.openxmlformats.org/drawingml/2006/main">
            <a:off x="6271260" y="2732343"/>
            <a:ext cx="4818983" cy="28848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1618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980AB08-8B16-46BA-8D3B-FAD2C916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445" y="1220470"/>
            <a:ext cx="122104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0">
              <a:alpha val="100000"/>
            </a:srgbClr>
          </a:solidFill>
          <a:ln xmlns:a="http://schemas.openxmlformats.org/drawingml/2006/main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71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47de895404f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9135" y="252095"/>
            <a:ext cx="3560445" cy="862965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D61F4E9-842C-49CC-9D2A-C7049D08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252095"/>
            <a:ext cx="668909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algn="l" defTabSz="91440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sz="4800" b="1" i="0" u="none" cap="none">
                <a:ln w="10160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/>
                <a:ea typeface="黑体"/>
                <a:cs typeface="黑体"/>
              </a:rPr>
              <a:t>双向闭环共用接口</a:t>
            </a:r>
            <a:endParaRPr sz="4800" b="1" i="0" u="none" kern="1200" cap="none" spc="0" baseline="0">
              <a:ln w="10160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/>
              <a:ea typeface="黑体"/>
              <a:cs typeface="黑体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DA50577-2134-4DDA-980A-FAA02538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391160"/>
            <a:ext cx="545465" cy="585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76200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>
                <a:ln>
                  <a:noFill/>
                </a:ln>
                <a:solidFill>
                  <a:srgbClr val="E54C5E">
                    <a:lumMod val="75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  <a:endParaRPr sz="4000" b="0" i="0" u="none" kern="1200" cap="none" spc="0" baseline="0">
              <a:ln>
                <a:noFill/>
              </a:ln>
              <a:solidFill>
                <a:srgbClr val="E54C5E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00AFB0C-17A5-48F1-9B42-38E4F9C4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30" y="1744980"/>
            <a:ext cx="11534140" cy="1237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chemeClr val="bg2">
                <a:lumMod val="75000"/>
              </a:scheme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91D243D-D95A-406C-940F-2A57F002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355" y="2179320"/>
            <a:ext cx="5186045" cy="5060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50" b="1" i="0" u="none" cap="none">
                <a:ln>
                  <a:noFill/>
                </a:ln>
                <a:solidFill>
                  <a:srgbClr val="4874CB">
                    <a:lumMod val="75000"/>
                  </a:srgbClr>
                </a:solidFill>
                <a:latin typeface="Calibri"/>
                <a:ea typeface="Calibri"/>
                <a:cs typeface="Calibri"/>
              </a:rPr>
              <a:t>Neural MCTS 优化 Oracle</a:t>
            </a:r>
            <a:endParaRPr sz="2400" b="1" i="0" u="none" kern="1200" cap="none" spc="0" baseline="0">
              <a:ln>
                <a:noFill/>
              </a:ln>
              <a:solidFill>
                <a:srgbClr val="4874CB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C8FA5E2-1580-44AA-A5A3-2F53328B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472" y="2179342"/>
            <a:ext cx="2706370" cy="5060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严格验证</a:t>
            </a:r>
            <a:endParaRPr sz="2400" b="1" i="0" u="none" kern="1200" cap="none" spc="0" baseline="0">
              <a:ln>
                <a:noFill/>
              </a:ln>
              <a:solidFill>
                <a:schemeClr val="accent6">
                  <a:lumMod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92BBD12-5701-481C-9B9D-BC75A519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82" y="2179342"/>
            <a:ext cx="2030095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srgbClr val="E54C5E">
                    <a:lumMod val="75000"/>
                  </a:srgbClr>
                </a:solidFill>
                <a:latin typeface="Calibri"/>
                <a:ea typeface="Calibri"/>
                <a:cs typeface="Calibri"/>
              </a:rPr>
              <a:t>AI4Q</a:t>
            </a:r>
            <a:endParaRPr sz="2400" b="1" i="0" u="none" kern="1200" cap="none" spc="0" baseline="0">
              <a:ln>
                <a:noFill/>
              </a:ln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7FFC4DD1-19F7-47D8-AA9F-60A93980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707" y="2236492"/>
            <a:ext cx="629285" cy="340360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23A6DC2-A31A-42B4-811B-BFDCC18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865" y="1519555"/>
            <a:ext cx="4191635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双向目标</a:t>
            </a:r>
            <a:endParaRPr sz="2400" b="1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5843182-9419-4353-AD64-CB87285D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89" y="4512811"/>
            <a:ext cx="2706370" cy="5060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28575" cmpd="sng">
            <a:solidFill>
              <a:srgbClr val="C00000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4874CB">
                    <a:lumMod val="75000"/>
                  </a:srgbClr>
                </a:solidFill>
              </a:rPr>
              <a:t>变量重标号</a:t>
            </a:r>
            <a:endParaRPr sz="2400" b="1" i="0" u="none" kern="1200" cap="none" spc="0" baseline="0">
              <a:ln>
                <a:noFill/>
              </a:ln>
              <a:solidFill>
                <a:srgbClr val="4874CB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DFE0118D-0D40-41BE-906B-3CFC59D4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95" y="3514725"/>
            <a:ext cx="11534775" cy="3173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chemeClr val="bg2">
                <a:lumMod val="75000"/>
              </a:scheme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375B46B2-D21E-46CE-B4C5-DE73D62A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570" y="3876316"/>
            <a:ext cx="21717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E54C5E">
                    <a:lumMod val="75000"/>
                  </a:srgbClr>
                </a:solidFill>
                <a:latin typeface="Calibri"/>
                <a:ea typeface="Calibri"/>
                <a:cs typeface="Calibri"/>
              </a:rPr>
              <a:t>表示错配</a:t>
            </a:r>
            <a:endParaRPr sz="2400" b="1">
              <a:solidFill>
                <a:srgbClr val="E54C5E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93B71FB-9077-4A60-AE21-B9984099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817" y="3297014"/>
            <a:ext cx="419100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同一决策闭环</a:t>
            </a:r>
            <a:endParaRPr sz="2400" b="1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F2E523C-744D-4735-9838-09AA20B2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372" y="4513649"/>
            <a:ext cx="2706370" cy="5060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28575" cmpd="sng">
            <a:solidFill>
              <a:srgbClr val="C00000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4874CB">
                    <a:lumMod val="75000"/>
                  </a:srgbClr>
                </a:solidFill>
              </a:rPr>
              <a:t>冻结候选池</a:t>
            </a:r>
            <a:endParaRPr sz="2400" b="1">
              <a:solidFill>
                <a:srgbClr val="4874CB">
                  <a:lumMod val="75000"/>
                </a:srgbClr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B46F713-FE11-405A-9B9A-2EC0EA05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707" y="3880562"/>
            <a:ext cx="217170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E54C5E">
                    <a:lumMod val="75000"/>
                  </a:srgbClr>
                </a:solidFill>
                <a:latin typeface="Calibri"/>
                <a:ea typeface="Calibri"/>
                <a:cs typeface="Calibri"/>
              </a:rPr>
              <a:t>搜索错配</a:t>
            </a:r>
            <a:endParaRPr sz="2400" b="1">
              <a:solidFill>
                <a:schemeClr val="accent6">
                  <a:lumMod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C3553B0A-CE93-4AEE-BC6E-10BAFF8B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507" y="3876316"/>
            <a:ext cx="21717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E54C5E">
                    <a:lumMod val="75000"/>
                  </a:srgbClr>
                </a:solidFill>
                <a:latin typeface="Calibri"/>
                <a:ea typeface="Calibri"/>
                <a:cs typeface="Calibri"/>
              </a:rPr>
              <a:t>执行错配</a:t>
            </a:r>
            <a:endParaRPr sz="2400" b="1">
              <a:solidFill>
                <a:srgbClr val="E54C5E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81912980-79C1-4D1D-9931-12FD47F5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6172" y="4491265"/>
            <a:ext cx="2706370" cy="5060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28575" cmpd="sng">
            <a:solidFill>
              <a:srgbClr val="C00000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4874CB">
                    <a:lumMod val="75000"/>
                  </a:srgbClr>
                </a:solidFill>
              </a:rPr>
              <a:t>原生门 + NLL</a:t>
            </a:r>
            <a:endParaRPr sz="2400" b="1">
              <a:solidFill>
                <a:srgbClr val="4874CB">
                  <a:lumMod val="75000"/>
                </a:srgbClr>
              </a:solidFill>
            </a:endParaRPr>
          </a:p>
        </p:txBody>
      </p:sp>
      <p:sp>
        <p:nvSpPr>
          <p:cNvPr id="60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41329BDB-BE07-4A9B-960F-9798519F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915" y="3906435"/>
            <a:ext cx="629285" cy="340360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1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2FE186D1-2271-4442-A664-CE75C196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708" y="3953696"/>
            <a:ext cx="629285" cy="340360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ABB54C5F-A46A-4AD9-88F3-1E1F1F4B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9065" y="5412076"/>
            <a:ext cx="118554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75"/>
              <a:t>π(σ·s)=σ·π(s)</a:t>
            </a:r>
            <a:endParaRPr sz="2000" b="1" i="1" u="none" kern="1200" cap="none" spc="0" baseline="0">
              <a:ln>
                <a:noFill/>
              </a:ln>
              <a:solidFill>
                <a:schemeClr val="accent1">
                  <a:lumMod val="75000"/>
                </a:schemeClr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B1B98B05-C0D6-49A3-B733-708895A1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3910" y="5154266"/>
            <a:ext cx="1858010" cy="8140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t>等变 policy</a:t>
            </a:r>
            <a:endParaRPr sz="2000" b="1" i="1">
              <a:solidFill>
                <a:schemeClr val="accent1">
                  <a:lumMod val="75000"/>
                </a:schemeClr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9E0416B1-8819-46FF-92D5-384D05AC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1050" y="5357271"/>
            <a:ext cx="356992" cy="396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000" b="1">
                <a:solidFill>
                  <a:schemeClr val="accent1">
                    <a:lumMod val="75000"/>
                  </a:schemeClr>
                </a:solidFill>
              </a:rPr>
              <a:t>→</a:t>
            </a:r>
            <a:endParaRPr sz="20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5" name="文本框 64">
            <a:extLst xmlns:a="http://schemas.openxmlformats.org/drawingml/2006/main">
              <a:ext uri="{FF2B5EF4-FFF2-40B4-BE49-F238E27FC236}">
                <a16:creationId xmlns:a16="http://schemas.microsoft.com/office/drawing/2014/main" id="{FF0C2F27-A023-483C-A28E-3C1890B9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0549" y="5359994"/>
            <a:ext cx="1800225" cy="359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75"/>
              <a:t>QAOA 选 B/K</a:t>
            </a:r>
            <a:endParaRPr sz="2000" b="1" i="1">
              <a:solidFill>
                <a:schemeClr val="accent1">
                  <a:lumMod val="75000"/>
                </a:schemeClr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67" name="文本框 66">
            <a:extLst xmlns:a="http://schemas.openxmlformats.org/drawingml/2006/main">
              <a:ext uri="{FF2B5EF4-FFF2-40B4-BE49-F238E27FC236}">
                <a16:creationId xmlns:a16="http://schemas.microsoft.com/office/drawing/2014/main" id="{0CCC5E36-4747-4367-9FA0-3DA8A5AA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61119" y="5358089"/>
            <a:ext cx="1931035" cy="5060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/>
              <a:t>独立 action edge</a:t>
            </a:r>
            <a:endParaRPr sz="2000" b="1" i="1">
              <a:solidFill>
                <a:schemeClr val="accent1">
                  <a:lumMod val="75000"/>
                </a:schemeClr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68" name="文本框 67">
            <a:extLst xmlns:a="http://schemas.openxmlformats.org/drawingml/2006/main">
              <a:ext uri="{FF2B5EF4-FFF2-40B4-BE49-F238E27FC236}">
                <a16:creationId xmlns:a16="http://schemas.microsoft.com/office/drawing/2014/main" id="{A3585CE0-629B-4934-B44D-72813A0A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075" y="5017456"/>
            <a:ext cx="1253425" cy="1025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75"/>
              <a:t>feedback</a:t>
            </a:r>
            <a:endParaRPr sz="2000" b="1" i="1">
              <a:solidFill>
                <a:schemeClr val="accent1">
                  <a:lumMod val="75000"/>
                </a:schemeClr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6ED854C1-8B3D-46B3-A29A-1205704E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393" y="5001898"/>
            <a:ext cx="1001614" cy="8949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/>
              <a:t>root utility</a:t>
            </a:r>
            <a:endParaRPr sz="2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2B055BAD-7934-4A9F-AA10-84142F3A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170" y="5956300"/>
            <a:ext cx="2189480" cy="4705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/>
              <a:t>held-out endpoint</a:t>
            </a:r>
            <a:endParaRPr sz="2000" b="1" i="1">
              <a:solidFill>
                <a:schemeClr val="accent1">
                  <a:lumMod val="75000"/>
                </a:schemeClr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A75F2830-964E-4447-862E-63D3186B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955030"/>
            <a:ext cx="821690" cy="435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chemeClr val="accent1">
                    <a:lumMod val="75000"/>
                  </a:schemeClr>
                </a:solidFill>
              </a:rPr>
              <a:t>→</a:t>
            </a:r>
            <a:endParaRPr sz="20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箭头: 右 20">
            <a:extLst xmlns:a="http://schemas.openxmlformats.org/drawingml/2006/main">
              <a:ext uri="{FF2B5EF4-FFF2-40B4-BE49-F238E27FC236}">
                <a16:creationId xmlns:a16="http://schemas.microsoft.com/office/drawing/2014/main" id="{0D0FF42B-0EC1-4CF2-A131-F263B99D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461" y="5468238"/>
            <a:ext cx="343843" cy="331122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箭头: 右 20">
            <a:extLst xmlns:a="http://schemas.openxmlformats.org/drawingml/2006/main">
              <a:ext uri="{FF2B5EF4-FFF2-40B4-BE49-F238E27FC236}">
                <a16:creationId xmlns:a16="http://schemas.microsoft.com/office/drawing/2014/main" id="{09BF1EEB-F933-40DE-8998-65E04930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366" y="5351398"/>
            <a:ext cx="343843" cy="331122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6987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06E45FD-7156-43EA-AAB9-0A25BA88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445" y="1220470"/>
            <a:ext cx="122104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0">
              <a:alpha val="100000"/>
            </a:srgbClr>
          </a:solidFill>
          <a:ln xmlns:a="http://schemas.openxmlformats.org/drawingml/2006/main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9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fc88ebdc14e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9135" y="252095"/>
            <a:ext cx="3560445" cy="862965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D742F05-0CE5-41D7-B0B5-16D84E8B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252095"/>
            <a:ext cx="668909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800" b="1">
                <a:ln w="10160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/>
                <a:ea typeface="黑体"/>
                <a:cs typeface="黑体"/>
              </a:rPr>
              <a:t>双向架构贯通证据</a:t>
            </a:r>
            <a:endParaRPr sz="4800" b="1">
              <a:ln w="1016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3F36D111-33D2-46CE-972F-FE081F4E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391160"/>
            <a:ext cx="545465" cy="585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76200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sz="40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98961D6-F9A9-4E23-A297-62B7EEB2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4" y="1787428"/>
            <a:ext cx="5448442" cy="4818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chemeClr val="bg2">
                <a:lumMod val="75000"/>
              </a:scheme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B3BD87F-3AD7-4E30-BFA6-9E4B0E0A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134" y="1477645"/>
            <a:ext cx="2974008" cy="5155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逻辑搜索与调度</a:t>
            </a:r>
            <a:endParaRPr sz="2400" b="1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BAA5AE7-EC90-47A3-BC4F-6796B840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8757" y="1787429"/>
            <a:ext cx="5456972" cy="4818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chemeClr val="bg2">
                <a:lumMod val="75000"/>
              </a:scheme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0CA7856-76AD-4AF7-8734-9C425C9E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3062" y="1796563"/>
            <a:ext cx="518442" cy="13465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endParaRPr sz="24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DC0A01C-4A66-48EE-A012-7AE13369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514" y="1477645"/>
            <a:ext cx="2974008" cy="5155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原生执行与反馈</a:t>
            </a:r>
            <a:endParaRPr sz="2400" b="1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1DB8A2F-98CB-41CD-A16E-D799DF1E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530" y="2434590"/>
            <a:ext cx="2178050" cy="9518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24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ANF / FPRM</a:t>
            </a:r>
            <a:endParaRPr sz="24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24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合法代数动作</a:t>
            </a:r>
            <a:endParaRPr sz="24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箭头: 右 24">
            <a:extLst xmlns:a="http://schemas.openxmlformats.org/drawingml/2006/main">
              <a:ext uri="{FF2B5EF4-FFF2-40B4-BE49-F238E27FC236}">
                <a16:creationId xmlns:a16="http://schemas.microsoft.com/office/drawing/2014/main" id="{8346FF2F-93A9-4CBE-A08D-F54ACADC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59424" y="3549731"/>
            <a:ext cx="362077" cy="418844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539897A-C6B6-485F-A130-61CD145D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292" y="4043442"/>
            <a:ext cx="2178342" cy="5155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2400" b="1">
                <a:solidFill>
                  <a:schemeClr val="accent1">
                    <a:lumMod val="75000"/>
                  </a:schemeClr>
                </a:solidFill>
              </a:rPr>
              <a:t>等变 policy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箭头: 右 33">
            <a:extLst xmlns:a="http://schemas.openxmlformats.org/drawingml/2006/main">
              <a:ext uri="{FF2B5EF4-FFF2-40B4-BE49-F238E27FC236}">
                <a16:creationId xmlns:a16="http://schemas.microsoft.com/office/drawing/2014/main" id="{1BC5697A-9A74-48F3-9E85-1383FDE2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59424" y="4712721"/>
            <a:ext cx="362077" cy="418844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15D78B5-02A5-4E9B-A3A0-5E8B7C41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265420"/>
            <a:ext cx="1840230" cy="5156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500" b="1">
                <a:solidFill>
                  <a:schemeClr val="accent1">
                    <a:lumMod val="75000"/>
                  </a:schemeClr>
                </a:solidFill>
              </a:rPr>
              <a:t>Neural MCTS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B55B741-C412-42FE-8CE6-081209E5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85" y="2434590"/>
            <a:ext cx="2303145" cy="5156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2400" b="1">
                <a:solidFill>
                  <a:schemeClr val="accent1">
                    <a:lumMod val="75000"/>
                  </a:schemeClr>
                </a:solidFill>
              </a:rPr>
              <a:t>冻结候选池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3B704F49-1E69-4D7E-84F9-A43FF81F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380" y="3749040"/>
            <a:ext cx="2627630" cy="5156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00" b="1">
                <a:solidFill>
                  <a:schemeClr val="accent1">
                    <a:lumMod val="75000"/>
                  </a:schemeClr>
                </a:solidFill>
              </a:rPr>
              <a:t>QAOA 选 B/K</a:t>
            </a:r>
            <a:endParaRPr sz="24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217FBD75-66DB-4FBA-BD56-69A4BF73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19" y="6115958"/>
            <a:ext cx="2304086" cy="3620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975" b="1"/>
              <a:t>正确性门：Plan ANF → Circuit GF(2) → Truth table → Native full-basis</a:t>
            </a:r>
            <a:endParaRPr sz="1100" b="1"/>
          </a:p>
        </p:txBody>
      </p:sp>
      <p:sp>
        <p:nvSpPr>
          <p:cNvPr id="30" name="箭头: 右 29">
            <a:extLst xmlns:a="http://schemas.openxmlformats.org/drawingml/2006/main">
              <a:ext uri="{FF2B5EF4-FFF2-40B4-BE49-F238E27FC236}">
                <a16:creationId xmlns:a16="http://schemas.microsoft.com/office/drawing/2014/main" id="{9613C026-BBEB-466C-A11F-92A46BE1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07732" y="3116102"/>
            <a:ext cx="362077" cy="418844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cxnSp>
        <p:nvCxnSpPr>
          <p:cNvPr id="111" name="直接箭头连接符 50"/>
          <p:cNvCxnSpPr>
            <a:stCxn xmlns:a="http://schemas.openxmlformats.org/drawingml/2006/main" id="49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9915406" y="3796260"/>
            <a:ext cx="356870" cy="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2" name="直接箭头连接符 54"/>
          <p:cNvCxnSpPr/>
          <p:nvPr/>
        </p:nvCxnSpPr>
        <p:spPr>
          <a:xfrm xmlns:a="http://schemas.openxmlformats.org/drawingml/2006/main" flipH="1" flipV="1">
            <a:off x="9990894" y="4196666"/>
            <a:ext cx="209893" cy="6765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6"/>
          </a:lnRef>
          <a:fillRef xmlns:a="http://schemas.openxmlformats.org/drawingml/2006/main" idx="0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3" name="直接箭头连接符 56"/>
          <p:cNvCxnSpPr/>
          <p:nvPr/>
        </p:nvCxnSpPr>
        <p:spPr>
          <a:xfrm xmlns:a="http://schemas.openxmlformats.org/drawingml/2006/main" flipH="1">
            <a:off x="9690527" y="4264316"/>
            <a:ext cx="492191" cy="33178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6"/>
          </a:lnRef>
          <a:fillRef xmlns:a="http://schemas.openxmlformats.org/drawingml/2006/main" idx="0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tx1"/>
          </a:fontRef>
        </p:style>
      </p:cxn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229D064B-684D-4806-8C61-90EF8323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741" y="4097783"/>
            <a:ext cx="893873" cy="576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975" b="1"/>
              <a:t>负结果</a:t>
            </a:r>
            <a:endParaRPr sz="1200" b="1"/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975" b="1"/>
              <a:t>也留痕</a:t>
            </a:r>
            <a:endParaRPr sz="1200" b="1"/>
          </a:p>
        </p:txBody>
      </p:sp>
      <p:sp>
        <p:nvSpPr>
          <p:cNvPr id="2" name="箭头: 右 30">
            <a:extLst xmlns:a="http://schemas.openxmlformats.org/drawingml/2006/main">
              <a:ext uri="{FF2B5EF4-FFF2-40B4-BE49-F238E27FC236}">
                <a16:creationId xmlns:a16="http://schemas.microsoft.com/office/drawing/2014/main" id="{B7E14B6F-22EA-4095-90D9-186248F2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86024">
            <a:off x="7917154" y="4330900"/>
            <a:ext cx="362077" cy="418844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37B791-1FCD-442C-8ED3-52B2D2B3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518" y="5607059"/>
            <a:ext cx="2178342" cy="5155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500" b="1">
                <a:solidFill>
                  <a:schemeClr val="accent1">
                    <a:lumMod val="75000"/>
                  </a:schemeClr>
                </a:solidFill>
              </a:rPr>
              <a:t>含噪执行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2175462-593E-4391-9157-9239DB01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739" y="5136324"/>
            <a:ext cx="5155007" cy="1196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/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CB05A3E-5DFD-48F1-844F-DE6BF453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99" y="5604379"/>
            <a:ext cx="2178342" cy="5155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500" b="1">
                <a:solidFill>
                  <a:schemeClr val="accent1">
                    <a:lumMod val="75000"/>
                  </a:schemeClr>
                </a:solidFill>
              </a:rPr>
              <a:t>原生分解 / 路由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5FA22DA-979B-444F-8311-E56C50A3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210" y="4876165"/>
            <a:ext cx="2466340" cy="5156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28575" cmpd="sng">
            <a:solidFill>
              <a:srgbClr val="C00000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500" b="1" i="0" u="none" cap="none">
                <a:ln>
                  <a:noFill/>
                </a:ln>
                <a:solidFill>
                  <a:srgbClr val="4874CB">
                    <a:lumMod val="75000"/>
                  </a:srgbClr>
                </a:solidFill>
                <a:latin typeface="Calibri"/>
                <a:ea typeface="Calibri"/>
                <a:cs typeface="Calibri"/>
              </a:rPr>
              <a:t>执行反馈回根效用</a:t>
            </a:r>
            <a:endParaRPr sz="2400" b="1" i="0" u="none" kern="1200" cap="none" spc="0" baseline="0">
              <a:ln>
                <a:noFill/>
              </a:ln>
              <a:solidFill>
                <a:srgbClr val="4874CB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1EBD60F-5E54-49C3-AE58-FA937BB7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165" y="5178425"/>
            <a:ext cx="217741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/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68BBCF3-31AB-4FDF-9887-81FA1BB2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075" y="5882005"/>
            <a:ext cx="1840230" cy="5149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Tx/>
              <a:buSzTx/>
              <a:buFontTx/>
              <a:buNone/>
            </a:pPr>
            <a:r>
              <a:rPr sz="1500" b="1">
                <a:solidFill>
                  <a:schemeClr val="accent1">
                    <a:lumMod val="75000"/>
                  </a:schemeClr>
                </a:solidFill>
              </a:rPr>
              <a:t>Pareto 档案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869BC40-21DE-4573-A480-7FE3CF07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19" y="4070623"/>
            <a:ext cx="2304086" cy="3620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/>
              <a:t>AI4Q：模型只排序可验证动作，不直接生成门序列</a:t>
            </a:r>
            <a:endParaRPr sz="1100" b="1"/>
          </a:p>
        </p:txBody>
      </p:sp>
    </p:spTree>
    <p:extLst>
      <p:ext uri="{BB962C8B-B14F-4D97-AF65-F5344CB8AC3E}">
        <p14:creationId xmlns:p14="http://schemas.microsoft.com/office/powerpoint/2010/main" val="9348566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80905B4-DEDF-41D1-80DD-CBF181C3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940" y="1437005"/>
            <a:ext cx="3121660" cy="3593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/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8ACF2F0-2140-40CE-8E6A-A8C1C5DA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445" y="1220470"/>
            <a:ext cx="122104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0">
              <a:alpha val="100000"/>
            </a:srgbClr>
          </a:solidFill>
          <a:ln xmlns:a="http://schemas.openxmlformats.org/drawingml/2006/main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56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60e75cc6e4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9135" y="252095"/>
            <a:ext cx="3560445" cy="862965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64C2625-3C29-467E-A914-3580A152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252095"/>
            <a:ext cx="668909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Tx/>
              <a:buNone/>
            </a:pPr>
            <a:r>
              <a:rPr sz="4800" b="1">
                <a:ln w="10160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/>
                <a:ea typeface="黑体"/>
                <a:cs typeface="黑体"/>
              </a:rPr>
              <a:t>等变策略消除重复</a:t>
            </a:r>
            <a:endParaRPr sz="4800" b="1">
              <a:ln w="10160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/>
              <a:ea typeface="黑体"/>
              <a:cs typeface="黑体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95A1F8D0-B6EA-453C-9A76-FFFACE68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391160"/>
            <a:ext cx="545465" cy="585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76200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chemeClr val="accent6">
                    <a:lumMod val="75000"/>
                  </a:schemeClr>
                </a:solidFill>
              </a:rPr>
              <a:t>2</a:t>
            </a:r>
            <a:endParaRPr sz="40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DF9B4CE-9A39-46D8-8582-3A9ECC46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235" y="1270963"/>
            <a:ext cx="2161496" cy="5155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endParaRPr sz="24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B96A79-17E0-4631-A7BB-B8A6029B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" y="2082165"/>
            <a:ext cx="3162935" cy="8661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24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状态编码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400" b="1">
                <a:solidFill>
                  <a:schemeClr val="tx1"/>
                </a:solidFill>
              </a:rPr>
              <a:t>T×n×12 结构张量</a:t>
            </a:r>
            <a:endParaRPr sz="1400" b="1">
              <a:solidFill>
                <a:schemeClr val="tx1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95E4FF8-E3CC-4E71-AEC3-33BE8E3C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" y="3654425"/>
            <a:ext cx="3162935" cy="8661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2400" b="1">
                <a:solidFill>
                  <a:schemeClr val="accent1">
                    <a:lumMod val="75000"/>
                  </a:schemeClr>
                </a:solidFill>
              </a:rPr>
              <a:t>共享聚合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00" b="1">
                <a:solidFill>
                  <a:schemeClr val="tx1"/>
                </a:solidFill>
              </a:rPr>
              <a:t>单项式行置换不变</a:t>
            </a:r>
            <a:endParaRPr sz="1600" b="1">
              <a:solidFill>
                <a:schemeClr val="tx1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C70D007-3F2F-4C7B-971F-50021A2D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" y="5226685"/>
            <a:ext cx="3162935" cy="8661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2400" b="1">
                <a:solidFill>
                  <a:schemeClr val="accent1">
                    <a:lumMod val="75000"/>
                  </a:schemeClr>
                </a:solidFill>
              </a:rPr>
              <a:t>动作头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00" b="1">
                <a:solidFill>
                  <a:schemeClr val="tx1"/>
                </a:solidFill>
              </a:rPr>
              <a:t>变量重标号等变</a:t>
            </a:r>
            <a:endParaRPr sz="1600" b="1">
              <a:solidFill>
                <a:schemeClr val="tx1"/>
              </a:solidFill>
            </a:endParaRPr>
          </a:p>
        </p:txBody>
      </p:sp>
      <p:sp>
        <p:nvSpPr>
          <p:cNvPr id="19" name="箭头: 右 18">
            <a:extLst xmlns:a="http://schemas.openxmlformats.org/drawingml/2006/main">
              <a:ext uri="{FF2B5EF4-FFF2-40B4-BE49-F238E27FC236}">
                <a16:creationId xmlns:a16="http://schemas.microsoft.com/office/drawing/2014/main" id="{33FDC6D4-2ACC-4C26-B613-AFC63C73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35175" y="3151505"/>
            <a:ext cx="440690" cy="299720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6DDF76F-E5DA-4338-A27C-DACFC3F0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1865" y="2083435"/>
            <a:ext cx="2852420" cy="85581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24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候选排序</a:t>
            </a:r>
            <a:endParaRPr sz="24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400" b="1">
                <a:solidFill>
                  <a:schemeClr val="tx1"/>
                </a:solidFill>
              </a:rPr>
              <a:t>只作用于合法动作</a:t>
            </a:r>
            <a:endParaRPr sz="24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1645571-BC3D-4EC7-8352-D16B0E86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0" y="3630265"/>
            <a:ext cx="2851785" cy="8501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24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C0–C7 因果消融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400" b="1">
                <a:solidFill>
                  <a:schemeClr val="tx1"/>
                </a:solidFill>
              </a:rPr>
              <a:t>policy / value 可分离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" name="箭头: 右 34">
            <a:extLst xmlns:a="http://schemas.openxmlformats.org/drawingml/2006/main">
              <a:ext uri="{FF2B5EF4-FFF2-40B4-BE49-F238E27FC236}">
                <a16:creationId xmlns:a16="http://schemas.microsoft.com/office/drawing/2014/main" id="{0A33C6D5-5EAB-4EC9-88EE-D83C77FD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777095" y="3105916"/>
            <a:ext cx="442595" cy="347069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1"/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箭头: 右 35">
            <a:extLst xmlns:a="http://schemas.openxmlformats.org/drawingml/2006/main">
              <a:ext uri="{FF2B5EF4-FFF2-40B4-BE49-F238E27FC236}">
                <a16:creationId xmlns:a16="http://schemas.microsoft.com/office/drawing/2014/main" id="{D312F060-ACAE-417A-8609-F76A851B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799760" y="4675325"/>
            <a:ext cx="397266" cy="347069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1"/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8A4D48D-BA43-4A6F-A570-C6555A9F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0" y="5174600"/>
            <a:ext cx="2851785" cy="9188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2400" b="1">
                <a:solidFill>
                  <a:schemeClr val="accent1">
                    <a:lumMod val="75000"/>
                  </a:schemeClr>
                </a:solidFill>
              </a:rPr>
              <a:t>部署 gate</a:t>
            </a:r>
            <a:endParaRPr sz="2400" b="1" baseline="30000">
              <a:solidFill>
                <a:schemeClr val="accent1">
                  <a:lumMod val="75000"/>
                </a:schemeClr>
              </a:solidFill>
            </a:endParaRPr>
          </a:p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2400" b="1">
                <a:solidFill>
                  <a:schemeClr val="accent1">
                    <a:lumMod val="75000"/>
                  </a:schemeClr>
                </a:solidFill>
              </a:rPr>
              <a:t>保留 policy-only</a:t>
            </a:r>
            <a:endParaRPr sz="2400" b="1" baseline="3000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9" name="图片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ef455c64341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345940" y="5112385"/>
            <a:ext cx="3121660" cy="1278255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chemeClr val="tx1"/>
            </a:solidFill>
          </a:ln>
        </p:spPr>
      </p:pic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FDC39BE-259F-4C1A-B496-2E68D844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" y="1694815"/>
            <a:ext cx="3634105" cy="4528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chemeClr val="bg2">
                <a:lumMod val="75000"/>
              </a:scheme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1BD6ADC-DFB4-4FAE-BE5C-388C2DC0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365" y="1441450"/>
            <a:ext cx="1712595" cy="5156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等变表示</a:t>
            </a:r>
            <a:endParaRPr sz="2400" b="1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D7B4E6F-CD7A-4807-A15E-78E413DE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840" y="1694815"/>
            <a:ext cx="3237230" cy="4528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chemeClr val="bg2">
                <a:lumMod val="75000"/>
              </a:scheme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330F885-4C9C-45C7-B934-B6A34B7B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899" y="1422728"/>
            <a:ext cx="1798506" cy="5155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可审计决策</a:t>
            </a:r>
            <a:endParaRPr sz="2400" b="1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箭头: 右 22">
            <a:extLst xmlns:a="http://schemas.openxmlformats.org/drawingml/2006/main">
              <a:ext uri="{FF2B5EF4-FFF2-40B4-BE49-F238E27FC236}">
                <a16:creationId xmlns:a16="http://schemas.microsoft.com/office/drawing/2014/main" id="{254D5FD7-962C-41CD-BC1F-CB64E09C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35175" y="4723765"/>
            <a:ext cx="440690" cy="299720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F3471A6A-A312-480A-A67A-A644E4A2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3662" y="4514116"/>
            <a:ext cx="1264249" cy="217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350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endParaRPr sz="1200" b="1"/>
          </a:p>
        </p:txBody>
      </p:sp>
      <p:pic>
        <p:nvPicPr>
          <p:cNvPr id="76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9b252da6941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587240" y="3378200"/>
            <a:ext cx="2638425" cy="1596389"/>
          </a:xfrm>
          <a:prstGeom xmlns:a="http://schemas.openxmlformats.org/drawingml/2006/main" prst="rect">
            <a:avLst/>
          </a:prstGeom>
          <a:ln xmlns:a="http://schemas.openxmlformats.org/drawingml/2006/main" w="6350">
            <a:noFill/>
          </a:ln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1BDCA80-8D65-453C-A40A-406861F4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6885" y="4067175"/>
            <a:ext cx="1227455" cy="146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350" cmpd="sng">
            <a:noFill/>
            <a:prstDash val="solid"/>
          </a:ln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AB0C31A5-CD11-449B-A2B1-FE078B0D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445" y="6527800"/>
            <a:ext cx="1142873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975">
                <a:solidFill>
                  <a:srgbClr val="000000"/>
                </a:solidFill>
                <a:latin typeface="+mn-ea"/>
                <a:ea typeface="+mn-ea"/>
                <a:cs typeface="+mn-ea"/>
              </a:rPr>
              <a:t>结构归纳偏置只负责搜索控制；语义由确定性验证器裁决。</a:t>
            </a:r>
            <a:endParaRPr sz="1000">
              <a:solidFill>
                <a:srgbClr val="00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4" name="直接连接符 33">
            <a:extLst xmlns:a="http://schemas.openxmlformats.org/drawingml/2006/main">
              <a:ext uri="{FF2B5EF4-FFF2-40B4-BE49-F238E27FC236}">
                <a16:creationId xmlns:a16="http://schemas.microsoft.com/office/drawing/2014/main" id="{3C405CAD-6202-49F0-A8AA-0F820659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315" y="5108575"/>
            <a:ext cx="1103630" cy="9906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直接连接符 37">
            <a:extLst xmlns:a="http://schemas.openxmlformats.org/drawingml/2006/main">
              <a:ext uri="{FF2B5EF4-FFF2-40B4-BE49-F238E27FC236}">
                <a16:creationId xmlns:a16="http://schemas.microsoft.com/office/drawing/2014/main" id="{E24B8ABC-10C6-469E-A191-15E05ABC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73315" y="6061075"/>
            <a:ext cx="1113790" cy="32004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48" name="直接连接符 47">
            <a:extLst xmlns:a="http://schemas.openxmlformats.org/drawingml/2006/main">
              <a:ext uri="{FF2B5EF4-FFF2-40B4-BE49-F238E27FC236}">
                <a16:creationId xmlns:a16="http://schemas.microsoft.com/office/drawing/2014/main" id="{6B88FF5D-AF23-41D4-B9A2-17A8591D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764915" y="1438275"/>
            <a:ext cx="605790" cy="64389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直接连接符 48">
            <a:extLst xmlns:a="http://schemas.openxmlformats.org/drawingml/2006/main">
              <a:ext uri="{FF2B5EF4-FFF2-40B4-BE49-F238E27FC236}">
                <a16:creationId xmlns:a16="http://schemas.microsoft.com/office/drawing/2014/main" id="{C81886D7-784F-4DC3-93B1-941F457D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105" y="2941955"/>
            <a:ext cx="568960" cy="207264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8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3ae93e81248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416474" y="1440347"/>
            <a:ext cx="3008152" cy="19057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172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44EB629-1E86-4BA9-BE11-23AFD5AA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445" y="1220470"/>
            <a:ext cx="122104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0">
              <a:alpha val="100000"/>
            </a:srgbClr>
          </a:solidFill>
          <a:ln xmlns:a="http://schemas.openxmlformats.org/drawingml/2006/main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3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cf37ef8f74d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9135" y="252095"/>
            <a:ext cx="3560445" cy="862965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6FA17CE-1C61-4CC1-9E74-ACC93409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252095"/>
            <a:ext cx="566928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800" b="1">
                <a:ln w="10160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/>
                <a:ea typeface="黑体"/>
                <a:cs typeface="黑体"/>
              </a:rPr>
              <a:t>E1：Policy 胜出</a:t>
            </a:r>
            <a:endParaRPr sz="4800" b="1">
              <a:ln w="1016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黑体"/>
              <a:ea typeface="黑体"/>
              <a:cs typeface="黑体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E4F60086-E7A2-4FD2-874F-BC3A2CEC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391160"/>
            <a:ext cx="545465" cy="585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76200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4000" b="1">
                <a:solidFill>
                  <a:schemeClr val="accent6">
                    <a:lumMod val="75000"/>
                  </a:schemeClr>
                </a:solidFill>
              </a:rPr>
              <a:t>2</a:t>
            </a:r>
            <a:endParaRPr sz="4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27FF4DF-AE64-4A9E-B881-02D96275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55" y="1387475"/>
            <a:ext cx="11750040" cy="6711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425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● 因果 pilot：C1/C0=0.981169，W/L/T=4/0/2；独立 gate：0.96415，95% CI [0.93739,0.98970]</a:t>
            </a:r>
            <a:endParaRPr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425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● value-only=1.007893；policy+value=1.002635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7FB2F111-016C-4B11-A048-D5B8DA84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0820"/>
            <a:ext cx="11431270" cy="3003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0" indent="0" algn="l" defTabSz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75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证据：E1 validation + independent policy-gate test；均为 held-out 小样本，不外推跨族泛化。</a:t>
            </a:r>
            <a:endParaRPr sz="1000">
              <a:solidFill>
                <a:srgbClr val="00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AE72A78-91F0-4C17-8C13-737D5DAD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5885180"/>
            <a:ext cx="11431270" cy="4679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381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 defTabSz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35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决策：等变 policy 进入后续实验；当前 learned value 关闭，负结果保留。</a:t>
            </a:r>
            <a:endParaRPr sz="24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87A9A75-FA35-4716-850F-F223671B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40" y="2521585"/>
            <a:ext cx="3507740" cy="326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 cmpd="sng">
            <a:solidFill>
              <a:srgbClr val="AFABAB">
                <a:alpha val="100000"/>
              </a:srgb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 defTabSz="0">
              <a:spcBef>
                <a:spcPct val="0"/>
              </a:spcBef>
              <a:spcAft>
                <a:spcPct val="0"/>
              </a:spcAft>
              <a:buSzTx/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4EB03A13-CD60-4CEE-92EF-C297C226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1780"/>
            <a:ext cx="2857500" cy="353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695">
              <a:alpha val="100000"/>
            </a:srgbClr>
          </a:solidFill>
          <a:ln xmlns:a="http://schemas.openxmlformats.org/drawingml/2006/main" w="254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 defTabSz="0">
              <a:spcBef>
                <a:spcPct val="0"/>
              </a:spcBef>
              <a:spcAft>
                <a:spcPct val="0"/>
              </a:spcAft>
              <a:buNone/>
            </a:pPr>
            <a:r>
              <a:rPr sz="2000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因果消融：score/C0</a:t>
            </a:r>
            <a:endParaRPr sz="2000" b="1">
              <a:solidFill>
                <a:schemeClr val="accent6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845149F-4A09-4096-965B-58DF6800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120" y="2533650"/>
            <a:ext cx="3659505" cy="3249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 cmpd="sng">
            <a:solidFill>
              <a:srgbClr val="AFABAB">
                <a:alpha val="100000"/>
              </a:srgb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 defTabSz="0">
              <a:spcBef>
                <a:spcPct val="0"/>
              </a:spcBef>
              <a:spcAft>
                <a:spcPct val="0"/>
              </a:spcAft>
              <a:buSzTx/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1FD3E7A-FC55-49C1-8D8A-AC14F73B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050" y="5351780"/>
            <a:ext cx="2888615" cy="3473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695">
              <a:alpha val="100000"/>
            </a:srgbClr>
          </a:solidFill>
          <a:ln xmlns:a="http://schemas.openxmlformats.org/drawingml/2006/main" w="254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 defTabSz="0">
              <a:buClrTx/>
              <a:buSzTx/>
              <a:buFontTx/>
              <a:buNone/>
            </a:pPr>
            <a:r>
              <a:rPr sz="2000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效果与搜索代价</a:t>
            </a:r>
            <a:endParaRPr sz="2000" b="1">
              <a:solidFill>
                <a:schemeClr val="accent6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11FE109-150E-4EBD-A43A-ADE702D8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020" y="2533650"/>
            <a:ext cx="3664585" cy="3249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 cmpd="sng">
            <a:solidFill>
              <a:srgbClr val="AFABAB">
                <a:alpha val="100000"/>
              </a:srgb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 defTabSz="0">
              <a:spcBef>
                <a:spcPct val="0"/>
              </a:spcBef>
              <a:spcAft>
                <a:spcPct val="0"/>
              </a:spcAft>
              <a:buSzTx/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979A15B-2609-4464-8D28-C6FD914D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357495"/>
            <a:ext cx="2886075" cy="3473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695">
              <a:alpha val="100000"/>
            </a:srgbClr>
          </a:solidFill>
          <a:ln xmlns:a="http://schemas.openxmlformats.org/drawingml/2006/main" w="254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 defTabSz="0">
              <a:spcBef>
                <a:spcPct val="0"/>
              </a:spcBef>
              <a:spcAft>
                <a:spcPct val="0"/>
              </a:spcAft>
              <a:buNone/>
            </a:pPr>
            <a:r>
              <a:rPr sz="2000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独立 gate：95% CI</a:t>
            </a:r>
            <a:endParaRPr sz="2000" b="1">
              <a:solidFill>
                <a:schemeClr val="accent6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654082" y="2614898"/>
          <a:ext xmlns:a="http://schemas.openxmlformats.org/drawingml/2006/main" cx="3345847" cy="269176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e08b3793af4fd0"/>
          </a:graphicData>
        </a:graphic>
      </p:graphicFrame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4256437" y="2608612"/>
          <a:ext xmlns:a="http://schemas.openxmlformats.org/drawingml/2006/main" cx="3599783" cy="256860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35f479ae974be4"/>
          </a:graphicData>
        </a:graphic>
      </p:graphicFrame>
      <p:sp>
        <p:nvSpPr>
          <p:cNvPr id="31" name="E1 diagnostic metrics">
            <a:extLst xmlns:a="http://schemas.openxmlformats.org/drawingml/2006/main">
              <a:ext uri="{FF2B5EF4-FFF2-40B4-BE49-F238E27FC236}">
                <a16:creationId xmlns:a16="http://schemas.microsoft.com/office/drawing/2014/main" id="{AD9B4608-AEED-4441-9F54-226BE90F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730" y="2607945"/>
            <a:ext cx="3599783" cy="25686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13335">
            <a:solidFill>
              <a:srgbClr val="D1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函数簇 W / L / T</a:t>
            </a:r>
          </a:p>
          <a:p xmlns:a="http://schemas.openxmlformats.org/drawingml/2006/main">
            <a:pPr algn="ctr">
              <a:def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4 / 0 /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时间比</a:t>
            </a:r>
          </a:p>
          <a:p xmlns:a="http://schemas.openxmlformats.org/drawingml/2006/main">
            <a:pPr algn="ctr">
              <a:def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1.1336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8 个 held-out 函数簇</a:t>
            </a:r>
          </a:p>
        </p:txBody>
      </p:sp>
    </p:spTree>
    <p:extLst>
      <p:ext uri="{BB962C8B-B14F-4D97-AF65-F5344CB8AC3E}">
        <p14:creationId xmlns:p14="http://schemas.microsoft.com/office/powerpoint/2010/main" val="4331969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7714DCB-5B59-4E3F-9F70-338AA034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445" y="1220470"/>
            <a:ext cx="122104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0">
              <a:alpha val="100000"/>
            </a:srgbClr>
          </a:solidFill>
          <a:ln xmlns:a="http://schemas.openxmlformats.org/drawingml/2006/main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15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d8c57ef4640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9135" y="252095"/>
            <a:ext cx="3560445" cy="862965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782B8A9-710A-46B9-AC5B-01B0F220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252095"/>
            <a:ext cx="668909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Tx/>
              <a:buNone/>
            </a:pPr>
            <a:r>
              <a:rPr sz="4800" b="1">
                <a:ln w="10160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/>
                <a:ea typeface="黑体"/>
                <a:cs typeface="黑体"/>
              </a:rPr>
              <a:t>QAOA 重排预算</a:t>
            </a:r>
            <a:endParaRPr sz="4800" b="1">
              <a:ln w="10160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/>
              <a:ea typeface="黑体"/>
              <a:cs typeface="黑体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ACD87EC0-D299-4005-8C0B-3931322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391160"/>
            <a:ext cx="545465" cy="585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76200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chemeClr val="accent6">
                    <a:lumMod val="75000"/>
                  </a:schemeClr>
                </a:solidFill>
              </a:rPr>
              <a:t>3</a:t>
            </a:r>
            <a:endParaRPr sz="40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DD6B3AA4-E7C6-4DFB-B3DF-1589099D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80" y="1671955"/>
            <a:ext cx="4598372" cy="493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chemeClr val="bg2">
                <a:lumMod val="75000"/>
              </a:scheme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EA08888-28A7-402D-A908-FC263176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175" y="1477645"/>
            <a:ext cx="2487982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冻结候选池</a:t>
            </a:r>
            <a:endParaRPr sz="2400" b="1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ED5ECD2E-61E0-46D6-AC08-7C3524B4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710690"/>
            <a:ext cx="6369050" cy="4895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chemeClr val="bg2">
                <a:lumMod val="75000"/>
              </a:scheme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D152CB52-128F-40EC-AEC9-7A73440D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961" y="1512188"/>
            <a:ext cx="3212662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固定基数选择</a:t>
            </a:r>
            <a:endParaRPr sz="2400" b="1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09FB937-E500-47B5-8023-B31589FC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321" y="2221886"/>
            <a:ext cx="2726714" cy="57483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50" b="1">
                <a:solidFill>
                  <a:schemeClr val="accent1">
                    <a:lumMod val="75000"/>
                  </a:schemeClr>
                </a:solidFill>
              </a:rPr>
              <a:t>QUBO：效用 − λ·重叠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67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874d63ab04d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314767" y="2012881"/>
            <a:ext cx="1534964" cy="1126825"/>
          </a:xfrm>
          <a:prstGeom xmlns:a="http://schemas.openxmlformats.org/drawingml/2006/main" prst="rect">
            <a:avLst/>
          </a:prstGeom>
        </p:spPr>
      </p:pic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A1F7D0AB-8829-46B6-8DE0-2B7CEABC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51428" y="2672645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cxnSp>
        <p:nvCxnSpPr>
          <p:cNvPr id="169" name="直接箭头连接符 17"/>
          <p:cNvCxnSpPr>
            <a:endCxn xmlns:a="http://schemas.openxmlformats.org/drawingml/2006/main" id="16" idx="3"/>
          </p:cNvCxnSpPr>
          <p:nvPr/>
        </p:nvCxnSpPr>
        <p:spPr>
          <a:xfrm xmlns:a="http://schemas.openxmlformats.org/drawingml/2006/main" rot="0" flipH="0" flipV="1">
            <a:off x="9160608" y="2779588"/>
            <a:ext cx="509905" cy="31242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B86D22A2-E7ED-41EE-8F52-83CDBD03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68923" y="3020271"/>
            <a:ext cx="827429" cy="2249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00" b="1">
                <a:solidFill>
                  <a:schemeClr val="accent1"/>
                </a:solidFill>
              </a:rPr>
              <a:t>高效用候选</a:t>
            </a:r>
            <a:endParaRPr sz="1000" b="1">
              <a:solidFill>
                <a:schemeClr val="accent1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0C5A509-A0A1-433F-8DBA-4AE85821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015" y="3767455"/>
            <a:ext cx="2727325" cy="8559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500" b="1">
                <a:solidFill>
                  <a:schemeClr val="accent1">
                    <a:lumMod val="75000"/>
                  </a:schemeClr>
                </a:solidFill>
              </a:rPr>
              <a:t>Exact / Greedy / QAOA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500" b="1">
                <a:solidFill>
                  <a:schemeClr val="accent1">
                    <a:lumMod val="75000"/>
                  </a:schemeClr>
                </a:solidFill>
              </a:rPr>
              <a:t>共享输入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72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874d63ab04d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312348" y="3332409"/>
            <a:ext cx="1534964" cy="1126825"/>
          </a:xfrm>
          <a:prstGeom xmlns:a="http://schemas.openxmlformats.org/drawingml/2006/main" prst="rect">
            <a:avLst/>
          </a:prstGeom>
        </p:spPr>
      </p:pic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BDB6E23F-6BF4-42A3-BE4E-A797D612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9008" y="3995092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7CC37D9B-B130-4D24-9C22-6DF4D66A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04274" y="3332409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056AFFA0-5478-4108-8A65-ECC8C440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14478" y="3995092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265FC11D-135D-42FA-A28D-7227E907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12348" y="4334229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1670305C-C94C-478A-8D3B-CEB98B80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16609" y="3332409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09189B0D-A918-4DB1-BF4A-5ED950C6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18305" y="4657572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FA789B94-8746-4B98-9900-D36A16CC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9008" y="4562519"/>
            <a:ext cx="1261578" cy="3618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</a:rPr>
              <a:t>低重叠子集</a:t>
            </a:r>
            <a:endParaRPr sz="1200" b="1">
              <a:solidFill>
                <a:srgbClr val="C00000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B2A6A442-717C-4CA4-94E1-0DDCF140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321" y="5499298"/>
            <a:ext cx="2726714" cy="57483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50" b="1">
                <a:solidFill>
                  <a:schemeClr val="accent1">
                    <a:lumMod val="75000"/>
                  </a:schemeClr>
                </a:solidFill>
              </a:rPr>
              <a:t>独立 root edge</a:t>
            </a:r>
            <a:endParaRPr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81" name="图片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874d63ab04d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04275" y="4929375"/>
            <a:ext cx="1534964" cy="1126825"/>
          </a:xfrm>
          <a:prstGeom xmlns:a="http://schemas.openxmlformats.org/drawingml/2006/main" prst="rect">
            <a:avLst/>
          </a:prstGeom>
        </p:spPr>
      </p:pic>
      <p:sp>
        <p:nvSpPr>
          <p:cNvPr id="54" name="椭圆 53">
            <a:extLst xmlns:a="http://schemas.openxmlformats.org/drawingml/2006/main">
              <a:ext uri="{FF2B5EF4-FFF2-40B4-BE49-F238E27FC236}">
                <a16:creationId xmlns:a16="http://schemas.microsoft.com/office/drawing/2014/main" id="{593F11F1-222C-4E8B-9F0C-F883A9B1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935" y="5592058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椭圆 54">
            <a:extLst xmlns:a="http://schemas.openxmlformats.org/drawingml/2006/main">
              <a:ext uri="{FF2B5EF4-FFF2-40B4-BE49-F238E27FC236}">
                <a16:creationId xmlns:a16="http://schemas.microsoft.com/office/drawing/2014/main" id="{EF7D7C9D-D468-4E18-B534-6C3C2384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201" y="4929375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6"/>
          </a:fillRef>
          <a:effectRef xmlns:a="http://schemas.openxmlformats.org/drawingml/2006/main" idx="1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6" name="椭圆 55">
            <a:extLst xmlns:a="http://schemas.openxmlformats.org/drawingml/2006/main">
              <a:ext uri="{FF2B5EF4-FFF2-40B4-BE49-F238E27FC236}">
                <a16:creationId xmlns:a16="http://schemas.microsoft.com/office/drawing/2014/main" id="{9E1BAD50-2D10-4472-865C-6585371C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405" y="5592058"/>
            <a:ext cx="130703" cy="12500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>
              <a:lumMod val="75000"/>
            </a:schemeClr>
          </a:solidFill>
        </p:spPr>
        <p:style>
          <a:lnRef xmlns:a="http://schemas.openxmlformats.org/drawingml/2006/main" idx="1">
            <a:schemeClr val="accent5"/>
          </a:lnRef>
          <a:fillRef xmlns:a="http://schemas.openxmlformats.org/drawingml/2006/main" idx="2">
            <a:schemeClr val="accent5"/>
          </a:fillRef>
          <a:effectRef xmlns:a="http://schemas.openxmlformats.org/drawingml/2006/main" idx="1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椭圆 56">
            <a:extLst xmlns:a="http://schemas.openxmlformats.org/drawingml/2006/main">
              <a:ext uri="{FF2B5EF4-FFF2-40B4-BE49-F238E27FC236}">
                <a16:creationId xmlns:a16="http://schemas.microsoft.com/office/drawing/2014/main" id="{979336DD-1244-4C29-ACC9-31ED481D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275" y="5931195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6"/>
          </a:fillRef>
          <a:effectRef xmlns:a="http://schemas.openxmlformats.org/drawingml/2006/main" idx="1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椭圆 57">
            <a:extLst xmlns:a="http://schemas.openxmlformats.org/drawingml/2006/main">
              <a:ext uri="{FF2B5EF4-FFF2-40B4-BE49-F238E27FC236}">
                <a16:creationId xmlns:a16="http://schemas.microsoft.com/office/drawing/2014/main" id="{A91F99B6-10F0-4A72-9344-CA9F15BC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8536" y="4929375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6"/>
          </a:fillRef>
          <a:effectRef xmlns:a="http://schemas.openxmlformats.org/drawingml/2006/main" idx="1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7E78A651-F582-4D29-AC7B-886A38CC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935" y="6159485"/>
            <a:ext cx="1261578" cy="3618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050" b="1">
                <a:solidFill>
                  <a:schemeClr val="accent5">
                    <a:lumMod val="75000"/>
                  </a:schemeClr>
                </a:solidFill>
              </a:rPr>
              <a:t>搜索轨迹改变</a:t>
            </a:r>
            <a:endParaRPr sz="1200" b="1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2" name="椭圆 61">
            <a:extLst xmlns:a="http://schemas.openxmlformats.org/drawingml/2006/main">
              <a:ext uri="{FF2B5EF4-FFF2-40B4-BE49-F238E27FC236}">
                <a16:creationId xmlns:a16="http://schemas.microsoft.com/office/drawing/2014/main" id="{3CD5A62C-E9AE-429C-99BF-BB9621E4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352" y="6254538"/>
            <a:ext cx="130703" cy="12500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>
              <a:lumMod val="75000"/>
            </a:schemeClr>
          </a:solidFill>
        </p:spPr>
        <p:style>
          <a:lnRef xmlns:a="http://schemas.openxmlformats.org/drawingml/2006/main" idx="1">
            <a:schemeClr val="accent5"/>
          </a:lnRef>
          <a:fillRef xmlns:a="http://schemas.openxmlformats.org/drawingml/2006/main" idx="2">
            <a:schemeClr val="accent5"/>
          </a:fillRef>
          <a:effectRef xmlns:a="http://schemas.openxmlformats.org/drawingml/2006/main" idx="1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箭头: 右 62">
            <a:extLst xmlns:a="http://schemas.openxmlformats.org/drawingml/2006/main">
              <a:ext uri="{FF2B5EF4-FFF2-40B4-BE49-F238E27FC236}">
                <a16:creationId xmlns:a16="http://schemas.microsoft.com/office/drawing/2014/main" id="{861ACC46-0BBD-47DE-A707-B45BDE0C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91832" y="3185062"/>
            <a:ext cx="613692" cy="352840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4" name="箭头: 右 63">
            <a:extLst xmlns:a="http://schemas.openxmlformats.org/drawingml/2006/main">
              <a:ext uri="{FF2B5EF4-FFF2-40B4-BE49-F238E27FC236}">
                <a16:creationId xmlns:a16="http://schemas.microsoft.com/office/drawing/2014/main" id="{A5A7CD1C-F8FA-49A0-A53B-7E1C8B37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88905" y="4884465"/>
            <a:ext cx="613692" cy="352840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788EAAB3-8388-4FD4-A11B-548F614C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32" y="2235154"/>
            <a:ext cx="3571771" cy="52403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50" b="1">
                <a:solidFill>
                  <a:schemeClr val="accent1">
                    <a:lumMod val="75000"/>
                  </a:schemeClr>
                </a:solidFill>
              </a:rPr>
              <a:t>同一候选池 K=10 / B=4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9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ca4bb588f47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225" y="2939415"/>
            <a:ext cx="3561715" cy="191262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chemeClr val="tx1"/>
            </a:solidFill>
          </a:ln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759CBF3-B381-4159-B88A-517B57E8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35" y="4373245"/>
            <a:ext cx="2058035" cy="189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rgbClr val="C00000">
                <a:alpha val="10000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 defTabSz="0">
              <a:spcBef>
                <a:spcPct val="0"/>
              </a:spcBef>
              <a:spcAft>
                <a:spcPct val="0"/>
              </a:spcAft>
              <a:buSzTx/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194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874d63ab04d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66213" y="5053259"/>
            <a:ext cx="1534964" cy="1126825"/>
          </a:xfrm>
          <a:prstGeom xmlns:a="http://schemas.openxmlformats.org/drawingml/2006/main" prst="rect">
            <a:avLst/>
          </a:prstGeom>
        </p:spPr>
      </p:pic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340A882D-E2EA-4BED-9E0A-13411221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2873" y="5715942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0F756D9B-2F2E-44E8-9077-B36DE994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8069" y="5053259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85593124-545B-4177-9170-62CB2CC5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4399" y="5372664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椭圆 44">
            <a:extLst xmlns:a="http://schemas.openxmlformats.org/drawingml/2006/main">
              <a:ext uri="{FF2B5EF4-FFF2-40B4-BE49-F238E27FC236}">
                <a16:creationId xmlns:a16="http://schemas.microsoft.com/office/drawing/2014/main" id="{373531CE-A262-41FD-BFFE-9597E497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198" y="6055079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椭圆 45">
            <a:extLst xmlns:a="http://schemas.openxmlformats.org/drawingml/2006/main">
              <a:ext uri="{FF2B5EF4-FFF2-40B4-BE49-F238E27FC236}">
                <a16:creationId xmlns:a16="http://schemas.microsoft.com/office/drawing/2014/main" id="{FE53DF51-9ABE-4DB8-B01A-A1841EED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13" y="5372454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6">
              <a:shade val="15000"/>
            </a:schemeClr>
          </a:lnRef>
          <a:fillRef xmlns:a="http://schemas.openxmlformats.org/drawingml/2006/main" idx="1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cxnSp>
        <p:nvCxnSpPr>
          <p:cNvPr id="200" name="直接箭头连接符 46"/>
          <p:cNvCxnSpPr>
            <a:stCxn xmlns:a="http://schemas.openxmlformats.org/drawingml/2006/main" id="46" idx="5"/>
          </p:cNvCxnSpPr>
          <p:nvPr/>
        </p:nvCxnSpPr>
        <p:spPr>
          <a:xfrm xmlns:a="http://schemas.openxmlformats.org/drawingml/2006/main">
            <a:off x="977900" y="5479415"/>
            <a:ext cx="243840" cy="25463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chemeClr val="accent6">
                <a:lumMod val="75000"/>
              </a:schemeClr>
            </a:solidFill>
            <a:headEnd type="none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1" name="直接箭头连接符 47"/>
          <p:cNvCxnSpPr/>
          <p:nvPr/>
        </p:nvCxnSpPr>
        <p:spPr>
          <a:xfrm xmlns:a="http://schemas.openxmlformats.org/drawingml/2006/main" flipH="1">
            <a:off x="1314450" y="5160010"/>
            <a:ext cx="273050" cy="57404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chemeClr val="accent6">
                <a:lumMod val="75000"/>
              </a:schemeClr>
            </a:solidFill>
            <a:headEnd type="none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2" name="直接箭头连接符 48"/>
          <p:cNvCxnSpPr/>
          <p:nvPr/>
        </p:nvCxnSpPr>
        <p:spPr>
          <a:xfrm xmlns:a="http://schemas.openxmlformats.org/drawingml/2006/main" flipH="1">
            <a:off x="1333500" y="5479415"/>
            <a:ext cx="61023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chemeClr val="accent6">
                <a:lumMod val="75000"/>
              </a:schemeClr>
            </a:solidFill>
            <a:headEnd type="none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3" name="直接箭头连接符 49"/>
          <p:cNvCxnSpPr>
            <a:stCxn xmlns:a="http://schemas.openxmlformats.org/drawingml/2006/main" id="45" idx="1"/>
          </p:cNvCxnSpPr>
          <p:nvPr/>
        </p:nvCxnSpPr>
        <p:spPr>
          <a:xfrm xmlns:a="http://schemas.openxmlformats.org/drawingml/2006/main" flipH="1" flipV="1">
            <a:off x="1314450" y="5822950"/>
            <a:ext cx="974725" cy="25019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chemeClr val="accent6">
                <a:lumMod val="75000"/>
              </a:schemeClr>
            </a:solidFill>
            <a:headEnd type="none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204" name="图片 7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874d63ab04d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748353" y="5052624"/>
            <a:ext cx="1534964" cy="1126825"/>
          </a:xfrm>
          <a:prstGeom xmlns:a="http://schemas.openxmlformats.org/drawingml/2006/main" prst="rect">
            <a:avLst/>
          </a:prstGeom>
        </p:spPr>
      </p:pic>
      <p:sp>
        <p:nvSpPr>
          <p:cNvPr id="77" name="椭圆 76">
            <a:extLst xmlns:a="http://schemas.openxmlformats.org/drawingml/2006/main">
              <a:ext uri="{FF2B5EF4-FFF2-40B4-BE49-F238E27FC236}">
                <a16:creationId xmlns:a16="http://schemas.microsoft.com/office/drawing/2014/main" id="{1037A70D-473C-4B71-9B05-D8E2B380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85013" y="5715307"/>
            <a:ext cx="130703" cy="12500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>
              <a:alpha val="94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6"/>
          </a:fillRef>
          <a:effectRef xmlns:a="http://schemas.openxmlformats.org/drawingml/2006/main" idx="1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78" name="椭圆 77">
            <a:extLst xmlns:a="http://schemas.openxmlformats.org/drawingml/2006/main">
              <a:ext uri="{FF2B5EF4-FFF2-40B4-BE49-F238E27FC236}">
                <a16:creationId xmlns:a16="http://schemas.microsoft.com/office/drawing/2014/main" id="{EA88C76C-ADCD-4C6D-8B3E-A05657FF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0209" y="5052624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6"/>
          </a:fillRef>
          <a:effectRef xmlns:a="http://schemas.openxmlformats.org/drawingml/2006/main" idx="1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79" name="椭圆 78">
            <a:extLst xmlns:a="http://schemas.openxmlformats.org/drawingml/2006/main">
              <a:ext uri="{FF2B5EF4-FFF2-40B4-BE49-F238E27FC236}">
                <a16:creationId xmlns:a16="http://schemas.microsoft.com/office/drawing/2014/main" id="{D3FF4D8C-A36E-4011-B967-74D593FE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06539" y="5372029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6"/>
          </a:fillRef>
          <a:effectRef xmlns:a="http://schemas.openxmlformats.org/drawingml/2006/main" idx="1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80" name="椭圆 79">
            <a:extLst xmlns:a="http://schemas.openxmlformats.org/drawingml/2006/main">
              <a:ext uri="{FF2B5EF4-FFF2-40B4-BE49-F238E27FC236}">
                <a16:creationId xmlns:a16="http://schemas.microsoft.com/office/drawing/2014/main" id="{FCAD72CD-0676-421D-A43C-F92DD73D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338" y="6054444"/>
            <a:ext cx="130703" cy="125005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6"/>
          </a:fillRef>
          <a:effectRef xmlns:a="http://schemas.openxmlformats.org/drawingml/2006/main" idx="1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1" name="椭圆 80">
            <a:extLst xmlns:a="http://schemas.openxmlformats.org/drawingml/2006/main">
              <a:ext uri="{FF2B5EF4-FFF2-40B4-BE49-F238E27FC236}">
                <a16:creationId xmlns:a16="http://schemas.microsoft.com/office/drawing/2014/main" id="{9A4CD92B-98AB-4A1D-8FAB-83B2C5B0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353" y="5387059"/>
            <a:ext cx="130703" cy="12500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>
              <a:lumMod val="75000"/>
            </a:schemeClr>
          </a:solidFill>
        </p:spPr>
        <p:style>
          <a:lnRef xmlns:a="http://schemas.openxmlformats.org/drawingml/2006/main" idx="1">
            <a:schemeClr val="accent5"/>
          </a:lnRef>
          <a:fillRef xmlns:a="http://schemas.openxmlformats.org/drawingml/2006/main" idx="2">
            <a:schemeClr val="accent5"/>
          </a:fillRef>
          <a:effectRef xmlns:a="http://schemas.openxmlformats.org/drawingml/2006/main" idx="1">
            <a:schemeClr val="accent5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cxnSp>
        <p:nvCxnSpPr>
          <p:cNvPr id="210" name="直接箭头连接符 81"/>
          <p:cNvCxnSpPr>
            <a:stCxn xmlns:a="http://schemas.openxmlformats.org/drawingml/2006/main" id="81" idx="5"/>
          </p:cNvCxnSpPr>
          <p:nvPr/>
        </p:nvCxnSpPr>
        <p:spPr>
          <a:xfrm xmlns:a="http://schemas.openxmlformats.org/drawingml/2006/main">
            <a:off x="2860040" y="5494020"/>
            <a:ext cx="243840" cy="25463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chemeClr val="accent5">
                <a:lumMod val="75000"/>
              </a:schemeClr>
            </a:solidFill>
            <a:headEnd type="none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11" name="直接箭头连接符 82"/>
          <p:cNvCxnSpPr/>
          <p:nvPr/>
        </p:nvCxnSpPr>
        <p:spPr>
          <a:xfrm xmlns:a="http://schemas.openxmlformats.org/drawingml/2006/main" flipH="1">
            <a:off x="3196590" y="5159375"/>
            <a:ext cx="273050" cy="57404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chemeClr val="accent6">
                <a:lumMod val="75000"/>
              </a:schemeClr>
            </a:solidFill>
            <a:headEnd type="none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12" name="直接箭头连接符 83"/>
          <p:cNvCxnSpPr/>
          <p:nvPr/>
        </p:nvCxnSpPr>
        <p:spPr>
          <a:xfrm xmlns:a="http://schemas.openxmlformats.org/drawingml/2006/main" flipH="1">
            <a:off x="3215640" y="5478780"/>
            <a:ext cx="61023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chemeClr val="accent6">
                <a:lumMod val="75000"/>
              </a:schemeClr>
            </a:solidFill>
            <a:headEnd type="none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13" name="直接箭头连接符 84"/>
          <p:cNvCxnSpPr>
            <a:stCxn xmlns:a="http://schemas.openxmlformats.org/drawingml/2006/main" id="80" idx="1"/>
          </p:cNvCxnSpPr>
          <p:nvPr/>
        </p:nvCxnSpPr>
        <p:spPr>
          <a:xfrm xmlns:a="http://schemas.openxmlformats.org/drawingml/2006/main" flipH="1" flipV="1">
            <a:off x="3196590" y="5822950"/>
            <a:ext cx="974725" cy="25019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chemeClr val="accent6">
                <a:lumMod val="75000"/>
              </a:schemeClr>
            </a:solidFill>
            <a:headEnd type="none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C7B173CB-0A37-4A6F-A27F-55EA2B8F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6209030"/>
            <a:ext cx="1071880" cy="312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chemeClr val="accent5">
                    <a:lumMod val="75000"/>
                  </a:schemeClr>
                </a:solidFill>
              </a:rPr>
              <a:t>准入预算 B</a:t>
            </a:r>
            <a:endParaRPr sz="12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8963908B-252C-49A5-82DB-544EBBB3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" y="6209030"/>
            <a:ext cx="1071880" cy="312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chemeClr val="accent6">
                    <a:lumMod val="75000"/>
                  </a:schemeClr>
                </a:solidFill>
              </a:rPr>
              <a:t>候选池 K</a:t>
            </a:r>
            <a:endParaRPr sz="1200" b="1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6533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E1AAC10-62EF-4381-93DE-0C9D8151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445" y="1220470"/>
            <a:ext cx="122104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0">
              <a:alpha val="100000"/>
            </a:srgbClr>
          </a:solidFill>
          <a:ln xmlns:a="http://schemas.openxmlformats.org/drawingml/2006/main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32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1fcda1aea44c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9135" y="252095"/>
            <a:ext cx="3560445" cy="862965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2FFC0B7-7806-4329-9CA4-FD56E31F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252095"/>
            <a:ext cx="72390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800" b="1">
                <a:ln w="10160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/>
                <a:ea typeface="黑体"/>
                <a:cs typeface="黑体"/>
              </a:rPr>
              <a:t>E2：局部优，端点未定</a:t>
            </a:r>
            <a:endParaRPr sz="4800" b="1">
              <a:ln w="1016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黑体"/>
              <a:ea typeface="黑体"/>
              <a:cs typeface="黑体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0AB53A0D-A936-4773-B52B-A11FFA3C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391160"/>
            <a:ext cx="545465" cy="585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76200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4000" b="1">
                <a:solidFill>
                  <a:schemeClr val="accent6">
                    <a:lumMod val="75000"/>
                  </a:schemeClr>
                </a:solidFill>
              </a:rPr>
              <a:t>3</a:t>
            </a:r>
            <a:endParaRPr sz="4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D77DC0F-46B2-4CF2-9E52-4FEEDA64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55" y="1387475"/>
            <a:ext cx="11697970" cy="6711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350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● 20 个 held-out 函数 × 3 seeds × 7 调度器 = 420 trials；QAOA-shot 改变 27/60 个准入集合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877A6021-31E8-4705-9B55-F3E71905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6835"/>
            <a:ext cx="11431270" cy="3003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0" indent="0" algn="l" defTabSz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75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E2 bundle 20260810-e2-qaoa-scheduler-v1-s120000；24/24 verifier；180/180 QAOA，fallback=0。</a:t>
            </a:r>
            <a:endParaRPr sz="1000">
              <a:solidFill>
                <a:srgbClr val="00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D17D78B-0504-4831-BE49-A8D24377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5885180"/>
            <a:ext cx="11431270" cy="4679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381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 defTabSz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75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QAOA-shot：Exact hit 81.7%，regret 0.002288；Score/greedy 的 95% CI 仍跨 1。</a:t>
            </a:r>
            <a:endParaRPr sz="24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7944676-D3BB-4891-92C0-EF11E186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40" y="2521585"/>
            <a:ext cx="3507740" cy="3261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 cmpd="sng">
            <a:solidFill>
              <a:srgbClr val="AFABAB">
                <a:alpha val="100000"/>
              </a:srgb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 defTabSz="0">
              <a:spcBef>
                <a:spcPct val="0"/>
              </a:spcBef>
              <a:spcAft>
                <a:spcPct val="0"/>
              </a:spcAft>
              <a:buSzTx/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2AD4BA0-9425-4304-8BEA-48D61525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895" y="5351780"/>
            <a:ext cx="1797050" cy="353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695">
              <a:alpha val="100000"/>
            </a:srgbClr>
          </a:solidFill>
          <a:ln xmlns:a="http://schemas.openxmlformats.org/drawingml/2006/main" w="254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 defTabSz="0">
              <a:spcBef>
                <a:spcPct val="0"/>
              </a:spcBef>
              <a:spcAft>
                <a:spcPct val="0"/>
              </a:spcAft>
              <a:buNone/>
            </a:pPr>
            <a:r>
              <a:rPr sz="1050" b="1">
                <a:solidFill>
                  <a:srgbClr val="C81D31"/>
                </a:solidFill>
                <a:latin typeface="微软雅黑"/>
                <a:ea typeface="微软雅黑"/>
                <a:cs typeface="微软雅黑"/>
              </a:rPr>
              <a:t>冻结池命中率</a:t>
            </a:r>
            <a:endParaRPr sz="2000" b="1">
              <a:solidFill>
                <a:srgbClr val="C81D31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654082" y="2614898"/>
          <a:ext xmlns:a="http://schemas.openxmlformats.org/drawingml/2006/main" cx="3345847" cy="269176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2934ee2cdc48cd"/>
          </a:graphicData>
        </a:graphic>
      </p:graphicFrame>
      <p:graphicFrame>
        <p:nvGraphicFramePr>
          <p:cNvPr id="41" name=""/>
          <p:cNvGraphicFramePr/>
          <p:nvPr/>
        </p:nvGraphicFramePr>
        <p:xfrm>
          <a:off xmlns:a="http://schemas.openxmlformats.org/drawingml/2006/main" x="4342733" y="2640330"/>
          <a:ext xmlns:a="http://schemas.openxmlformats.org/drawingml/2006/main" cx="7122128" cy="3031522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1476375"/>
                <a:gridCol w="1809750"/>
                <a:gridCol w="2407253"/>
              </a:tblGrid>
              <a:tr h="5524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9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Greedy</a:t>
                      </a:r>
                    </a:p>
                  </a:txBody>
                  <a:tcPr marL="91440" marR="91440" marT="45720" marB="45720">
                    <a:solidFill>
                      <a:srgbClr val="9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QAOA-shot</a:t>
                      </a:r>
                    </a:p>
                  </a:txBody>
                  <a:tcPr marL="91440" marR="91440" marT="45720" marB="45720">
                    <a:solidFill>
                      <a:srgbClr val="9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判读</a:t>
                      </a:r>
                    </a:p>
                  </a:txBody>
                  <a:tcPr marL="91440" marR="91440" marT="45720" marB="45720">
                    <a:solidFill>
                      <a:srgbClr val="9B0000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050"/>
                        <a:t>Exact hit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65.0%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81.7%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局部提高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050"/>
                        <a:t>Regret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0.007694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0.002288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局部降低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050"/>
                        <a:t>Score/G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1.000000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0.999734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均值近 1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050"/>
                        <a:t>95% CI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[1, 1]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[0.998476, 1.000921]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/>
                        <a:t>仍跨 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6175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06E45FD-7156-43EA-AAB9-0A25BA88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445" y="1220470"/>
            <a:ext cx="122104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0">
              <a:alpha val="100000"/>
            </a:srgbClr>
          </a:solidFill>
          <a:ln xmlns:a="http://schemas.openxmlformats.org/drawingml/2006/main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9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1602d59344d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9135" y="252095"/>
            <a:ext cx="3560445" cy="862965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D742F05-0CE5-41D7-B0B5-16D84E8B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252095"/>
            <a:ext cx="668909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800" b="1">
                <a:ln w="10160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/>
                <a:ea typeface="黑体"/>
                <a:cs typeface="黑体"/>
              </a:rPr>
              <a:t>原生执行生成标签</a:t>
            </a:r>
            <a:endParaRPr sz="4800" b="1">
              <a:ln w="1016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3F36D111-33D2-46CE-972F-FE081F4E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391160"/>
            <a:ext cx="545465" cy="585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76200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chemeClr val="accent6">
                    <a:lumMod val="75000"/>
                  </a:schemeClr>
                </a:solidFill>
              </a:rPr>
              <a:t>4</a:t>
            </a:r>
            <a:endParaRPr sz="40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98961D6-F9A9-4E23-A297-62B7EEB2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4" y="1787428"/>
            <a:ext cx="5448442" cy="4818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chemeClr val="bg2">
                <a:lumMod val="75000"/>
              </a:scheme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B3BD87F-3AD7-4E30-BFA6-9E4B0E0A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134" y="1477645"/>
            <a:ext cx="2974008" cy="5155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离线 calibration</a:t>
            </a:r>
            <a:endParaRPr sz="2400" b="1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BAA5AE7-EC90-47A3-BC4F-6796B840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8757" y="1787429"/>
            <a:ext cx="5456972" cy="4818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>
            <a:solidFill>
              <a:schemeClr val="bg2">
                <a:lumMod val="75000"/>
              </a:scheme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0CA7856-76AD-4AF7-8734-9C425C9E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3062" y="1796563"/>
            <a:ext cx="518442" cy="13465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endParaRPr sz="24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DC0A01C-4A66-48EE-A012-7AE13369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514" y="1477645"/>
            <a:ext cx="2974008" cy="5155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冻结 held-out 干预</a:t>
            </a:r>
            <a:endParaRPr sz="2400" b="1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1DB8A2F-98CB-41CD-A16E-D799DF1E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530" y="2434590"/>
            <a:ext cx="2178050" cy="9518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5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逻辑 Plan</a:t>
            </a:r>
            <a:endParaRPr sz="24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5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X/CNOT/MCT</a:t>
            </a:r>
            <a:endParaRPr sz="24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箭头: 右 24">
            <a:extLst xmlns:a="http://schemas.openxmlformats.org/drawingml/2006/main">
              <a:ext uri="{FF2B5EF4-FFF2-40B4-BE49-F238E27FC236}">
                <a16:creationId xmlns:a16="http://schemas.microsoft.com/office/drawing/2014/main" id="{8346FF2F-93A9-4CBE-A08D-F54ACADC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59424" y="3549731"/>
            <a:ext cx="362077" cy="418844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539897A-C6B6-485F-A130-61CD145D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292" y="4043442"/>
            <a:ext cx="2178342" cy="5155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50" b="1">
                <a:solidFill>
                  <a:schemeClr val="accent1">
                    <a:lumMod val="75000"/>
                  </a:schemeClr>
                </a:solidFill>
              </a:rPr>
              <a:t>原生分解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箭头: 右 33">
            <a:extLst xmlns:a="http://schemas.openxmlformats.org/drawingml/2006/main">
              <a:ext uri="{FF2B5EF4-FFF2-40B4-BE49-F238E27FC236}">
                <a16:creationId xmlns:a16="http://schemas.microsoft.com/office/drawing/2014/main" id="{1BC5697A-9A74-48F3-9E85-1383FDE2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59424" y="4712721"/>
            <a:ext cx="362077" cy="418844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15D78B5-02A5-4E9B-A3A0-5E8B7C41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265420"/>
            <a:ext cx="1840230" cy="5156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500" b="1">
                <a:solidFill>
                  <a:schemeClr val="accent1">
                    <a:lumMod val="75000"/>
                  </a:schemeClr>
                </a:solidFill>
              </a:rPr>
              <a:t>最短路路由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B55B741-C412-42FE-8CE6-081209E5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85" y="2434590"/>
            <a:ext cx="2303145" cy="5156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2400" b="1">
                <a:solidFill>
                  <a:schemeClr val="accent1">
                    <a:lumMod val="75000"/>
                  </a:schemeClr>
                </a:solidFill>
              </a:rPr>
              <a:t>56 条候选观测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3B704F49-1E69-4D7E-84F9-A43FF81F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380" y="3749040"/>
            <a:ext cx="2627630" cy="5156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00" b="1">
                <a:solidFill>
                  <a:schemeClr val="accent1">
                    <a:lumMod val="75000"/>
                  </a:schemeClr>
                </a:solidFill>
              </a:rPr>
              <a:t>ridge α=10</a:t>
            </a:r>
            <a:endParaRPr sz="24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217FBD75-66DB-4FBA-BD56-69A4BF73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19" y="6115958"/>
            <a:ext cx="2304086" cy="3620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975" b="1"/>
              <a:t>加噪前：原生门白名单 + 耦合边 + 终态 layout 解码 + 全基态等价</a:t>
            </a:r>
            <a:endParaRPr sz="1100" b="1"/>
          </a:p>
        </p:txBody>
      </p:sp>
      <p:sp>
        <p:nvSpPr>
          <p:cNvPr id="30" name="箭头: 右 29">
            <a:extLst xmlns:a="http://schemas.openxmlformats.org/drawingml/2006/main">
              <a:ext uri="{FF2B5EF4-FFF2-40B4-BE49-F238E27FC236}">
                <a16:creationId xmlns:a16="http://schemas.microsoft.com/office/drawing/2014/main" id="{9613C026-BBEB-466C-A11F-92A46BE1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07732" y="3116102"/>
            <a:ext cx="362077" cy="418844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cxnSp>
        <p:nvCxnSpPr>
          <p:cNvPr id="111" name="直接箭头连接符 50"/>
          <p:cNvCxnSpPr>
            <a:stCxn xmlns:a="http://schemas.openxmlformats.org/drawingml/2006/main" id="49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9915406" y="3796260"/>
            <a:ext cx="356870" cy="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2" name="直接箭头连接符 54"/>
          <p:cNvCxnSpPr/>
          <p:nvPr/>
        </p:nvCxnSpPr>
        <p:spPr>
          <a:xfrm xmlns:a="http://schemas.openxmlformats.org/drawingml/2006/main" flipH="1" flipV="1">
            <a:off x="9990894" y="4196666"/>
            <a:ext cx="209893" cy="6765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6"/>
          </a:lnRef>
          <a:fillRef xmlns:a="http://schemas.openxmlformats.org/drawingml/2006/main" idx="0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3" name="直接箭头连接符 56"/>
          <p:cNvCxnSpPr/>
          <p:nvPr/>
        </p:nvCxnSpPr>
        <p:spPr>
          <a:xfrm xmlns:a="http://schemas.openxmlformats.org/drawingml/2006/main" flipH="1">
            <a:off x="9690527" y="4264316"/>
            <a:ext cx="492191" cy="33178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6"/>
          </a:lnRef>
          <a:fillRef xmlns:a="http://schemas.openxmlformats.org/drawingml/2006/main" idx="0">
            <a:schemeClr val="accent6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tx1"/>
          </a:fontRef>
        </p:style>
      </p:cxn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229D064B-684D-4806-8C61-90EF8323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741" y="4097783"/>
            <a:ext cx="893873" cy="576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975" b="1"/>
              <a:t>冻结后</a:t>
            </a:r>
            <a:endParaRPr sz="1200" b="1"/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975" b="1"/>
              <a:t>不再调参</a:t>
            </a:r>
            <a:endParaRPr sz="1200" b="1"/>
          </a:p>
        </p:txBody>
      </p:sp>
      <p:sp>
        <p:nvSpPr>
          <p:cNvPr id="2" name="箭头: 右 30">
            <a:extLst xmlns:a="http://schemas.openxmlformats.org/drawingml/2006/main">
              <a:ext uri="{FF2B5EF4-FFF2-40B4-BE49-F238E27FC236}">
                <a16:creationId xmlns:a16="http://schemas.microsoft.com/office/drawing/2014/main" id="{B7E14B6F-22EA-4095-90D9-186248F2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86024">
            <a:off x="7917154" y="4330900"/>
            <a:ext cx="362077" cy="418844"/>
          </a:xfrm>
          <a:prstGeom xmlns:a="http://schemas.openxmlformats.org/drawingml/2006/main" prst="rightArrow">
            <a:avLst/>
          </a:prstGeom>
          <a:ln xmlns:a="http://schemas.openxmlformats.org/drawingml/2006/main" w="38100">
            <a:solidFill>
              <a:schemeClr val="tx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37B791-1FCD-442C-8ED3-52B2D2B3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518" y="5607059"/>
            <a:ext cx="2178342" cy="5155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2400" b="1">
                <a:solidFill>
                  <a:schemeClr val="accent1">
                    <a:lumMod val="75000"/>
                  </a:schemeClr>
                </a:solidFill>
              </a:rPr>
              <a:t>2×2 同池干预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2175462-593E-4391-9157-9239DB01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739" y="5136324"/>
            <a:ext cx="5155007" cy="1196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/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CB05A3E-5DFD-48F1-844F-DE6BF453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99" y="5604379"/>
            <a:ext cx="2178342" cy="5155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500" b="1">
                <a:solidFill>
                  <a:schemeClr val="accent1">
                    <a:lumMod val="75000"/>
                  </a:schemeClr>
                </a:solidFill>
              </a:rPr>
              <a:t>根动作罚项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5FA22DA-979B-444F-8311-E56C50A3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210" y="4876165"/>
            <a:ext cx="2466340" cy="5156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28575" cmpd="sng">
            <a:solidFill>
              <a:srgbClr val="C00000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500" b="1" i="0" u="none" cap="none">
                <a:ln>
                  <a:noFill/>
                </a:ln>
                <a:solidFill>
                  <a:srgbClr val="4874CB">
                    <a:lumMod val="75000"/>
                  </a:srgbClr>
                </a:solidFill>
                <a:latin typeface="Calibri"/>
                <a:ea typeface="Calibri"/>
                <a:cs typeface="Calibri"/>
              </a:rPr>
              <a:t>风险模型 → 根效用</a:t>
            </a:r>
            <a:endParaRPr sz="2400" b="1" i="0" u="none" kern="1200" cap="none" spc="0" baseline="0">
              <a:ln>
                <a:noFill/>
              </a:ln>
              <a:solidFill>
                <a:srgbClr val="4874CB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1EBD60F-5E54-49C3-AE58-FA937BB7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165" y="5178425"/>
            <a:ext cx="217741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/>
        </p:spPr>
        <p:style>
          <a:lnRef xmlns:a="http://schemas.openxmlformats.org/drawingml/2006/main" idx="2">
            <a:schemeClr val="dk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68BBCF3-31AB-4FDF-9887-81FA1BB2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075" y="5882005"/>
            <a:ext cx="1840230" cy="5149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ClrTx/>
              <a:buSzTx/>
              <a:buFontTx/>
              <a:buNone/>
            </a:pPr>
            <a:r>
              <a:rPr sz="1500" b="1">
                <a:solidFill>
                  <a:schemeClr val="accent1">
                    <a:lumMod val="75000"/>
                  </a:schemeClr>
                </a:solidFill>
              </a:rPr>
              <a:t>含噪轨迹</a:t>
            </a:r>
            <a:endParaRPr sz="2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5869BC40-21DE-4573-A480-7FE3CF07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19" y="4070623"/>
            <a:ext cx="2304086" cy="3620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/>
              <a:t>synthetic heavy-hex-like profile｜57,344 calibration shots</a:t>
            </a:r>
            <a:endParaRPr sz="1100" b="1"/>
          </a:p>
        </p:txBody>
      </p:sp>
    </p:spTree>
    <p:extLst>
      <p:ext uri="{BB962C8B-B14F-4D97-AF65-F5344CB8AC3E}">
        <p14:creationId xmlns:p14="http://schemas.microsoft.com/office/powerpoint/2010/main" val="9348566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4D7ECF0-9EC1-4C96-A8B5-9434AAA0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445" y="1220470"/>
            <a:ext cx="122104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0">
              <a:alpha val="100000"/>
            </a:srgbClr>
          </a:solidFill>
          <a:ln xmlns:a="http://schemas.openxmlformats.org/drawingml/2006/main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32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e482fe65c42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9135" y="252095"/>
            <a:ext cx="3560445" cy="862965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71D4C75-2861-4A69-9279-A18C79BB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252095"/>
            <a:ext cx="566928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Tx/>
              <a:buNone/>
            </a:pPr>
            <a:r>
              <a:rPr sz="4800" b="1">
                <a:ln w="10160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/>
                <a:ea typeface="黑体"/>
                <a:cs typeface="黑体"/>
              </a:rPr>
              <a:t>E3：端点未改善</a:t>
            </a:r>
            <a:endParaRPr sz="4800" b="1">
              <a:ln w="10160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/>
              <a:ea typeface="黑体"/>
              <a:cs typeface="黑体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1816B59E-04DD-4B22-ADFC-9BAFB9AF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391160"/>
            <a:ext cx="545465" cy="585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76200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4000" b="1">
                <a:solidFill>
                  <a:schemeClr val="accent6">
                    <a:lumMod val="75000"/>
                  </a:schemeClr>
                </a:solidFill>
              </a:rPr>
              <a:t>4</a:t>
            </a:r>
            <a:endParaRPr sz="4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1A5A70A-C827-4BC9-9D91-DB00ED03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5598160"/>
            <a:ext cx="11168380" cy="5702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38100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200" b="1">
                <a:solidFill>
                  <a:schemeClr val="tx1"/>
                </a:solidFill>
              </a:rPr>
              <a:t>NLL Δ=+0.001293，95% CI [-0.001170,0.004719]：负结果保留，不在留出集追逐正结论。</a:t>
            </a:r>
            <a:endParaRPr sz="2400"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76507F5-F6B2-4D32-91F7-45DF737B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" y="6431141"/>
            <a:ext cx="11431253" cy="4268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75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E3 calibration/test bundles；test 为 12 个互斥函数、2 seeds、4 variants。</a:t>
            </a:r>
            <a:endParaRPr sz="10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D36D88E9-0583-4EA4-B521-EA4AE396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55" y="1387475"/>
            <a:ext cx="11876405" cy="6711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275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● 反馈确实改变决策：QAOA 根选择 6/24 → Plan 4/24 → 原生 2q 3/24；但 H4 未获支持</a:t>
            </a:r>
            <a:endParaRPr sz="24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068E578-08D2-472B-8069-BFD93179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710" y="2543175"/>
            <a:ext cx="242697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13335">
            <a:solidFill>
              <a:srgbClr val="D1D5DB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 defTabSz="0">
              <a:spcBef>
                <a:spcPct val="0"/>
              </a:spcBef>
              <a:spcAft>
                <a:spcPct val="0"/>
              </a:spcAft>
              <a:buSzTx/>
              <a:buNone/>
              <a:def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Calibration</a:t>
            </a:r>
            <a:endParaRPr>
              <a:solidFill>
                <a:schemeClr val="lt1"/>
              </a:solidFill>
            </a:endParaRPr>
          </a:p>
          <a:p xmlns:a="http://schemas.openxmlformats.org/drawingml/2006/main">
            <a:pPr marL="0" lvl="0" indent="0" algn="ctr" defTabSz="0">
              <a:spcBef>
                <a:spcPct val="0"/>
              </a:spcBef>
              <a:spcAft>
                <a:spcPct val="0"/>
              </a:spcAft>
              <a:buSzTx/>
              <a:buNone/>
              <a:def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R² = 0.8995</a:t>
            </a:r>
            <a:endParaRPr>
              <a:solidFill>
                <a:schemeClr val="lt1"/>
              </a:solidFill>
            </a:endParaRPr>
          </a:p>
          <a:p xmlns:a="http://schemas.openxmlformats.org/drawingml/2006/main">
            <a:pPr marL="0" lvl="0" indent="0" algn="ctr" defTabSz="0">
              <a:spcBef>
                <a:spcPct val="0"/>
              </a:spcBef>
              <a:spcAft>
                <a:spcPct val="0"/>
              </a:spcAft>
              <a:buSzTx/>
              <a:buNone/>
              <a:def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MAE = 0.0457</a:t>
            </a:r>
            <a:endParaRPr>
              <a:solidFill>
                <a:schemeClr val="lt1"/>
              </a:solidFill>
            </a:endParaRPr>
          </a:p>
          <a:p xmlns:a="http://schemas.openxmlformats.org/drawingml/2006/main">
            <a:pPr marL="0" lvl="0" indent="0" algn="ctr" defTabSz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 xmlns:a="http://schemas.openxmlformats.org/drawingml/2006/main">
            <a:pPr marL="0" lvl="0" indent="0" algn="ctr" defTabSz="0">
              <a:spcBef>
                <a:spcPct val="0"/>
              </a:spcBef>
              <a:spcAft>
                <a:spcPct val="0"/>
              </a:spcAft>
              <a:buSzTx/>
              <a:buNone/>
              <a:def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决策差异</a:t>
            </a:r>
            <a:endParaRPr>
              <a:solidFill>
                <a:schemeClr val="lt1"/>
              </a:solidFill>
            </a:endParaRPr>
          </a:p>
          <a:p xmlns:a="http://schemas.openxmlformats.org/drawingml/2006/main">
            <a:pPr marL="0" lvl="0" indent="0" algn="ctr" defTabSz="0">
              <a:spcBef>
                <a:spcPct val="0"/>
              </a:spcBef>
              <a:spcAft>
                <a:spcPct val="0"/>
              </a:spcAft>
              <a:buSzTx/>
              <a:buNone/>
              <a:def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6 → 4 → 3</a:t>
            </a:r>
            <a:endParaRPr>
              <a:solidFill>
                <a:schemeClr val="lt1"/>
              </a:solidFill>
            </a:endParaRPr>
          </a:p>
          <a:p xmlns:a="http://schemas.openxmlformats.org/drawingml/2006/main">
            <a:pPr marL="0" lvl="0" indent="0" algn="ctr" defTabSz="0">
              <a:spcBef>
                <a:spcPct val="0"/>
              </a:spcBef>
              <a:spcAft>
                <a:spcPct val="0"/>
              </a:spcAft>
              <a:buSzTx/>
              <a:buNone/>
              <a:def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根动作 → Plan → 2q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428625" y="2781300"/>
          <a:ext xmlns:a="http://schemas.openxmlformats.org/drawingml/2006/main" cx="7429500" cy="2647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543581f21340d8"/>
          </a:graphicData>
        </a:graphic>
      </p:graphicFrame>
    </p:spTree>
    <p:extLst>
      <p:ext uri="{BB962C8B-B14F-4D97-AF65-F5344CB8AC3E}">
        <p14:creationId xmlns:p14="http://schemas.microsoft.com/office/powerpoint/2010/main" val="14027136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D895CEF-F621-4085-81D7-376DDEDE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445" y="1220470"/>
            <a:ext cx="122104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0">
              <a:alpha val="100000"/>
            </a:srgbClr>
          </a:solidFill>
          <a:ln xmlns:a="http://schemas.openxmlformats.org/drawingml/2006/main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4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3788d03d247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9135" y="252095"/>
            <a:ext cx="3560445" cy="862965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34782C4-2E85-4826-AD23-57ED52B4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252095"/>
            <a:ext cx="74295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Tx/>
              <a:buNone/>
            </a:pPr>
            <a:r>
              <a:rPr sz="2250" b="1">
                <a:ln w="10160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/>
                <a:ea typeface="黑体"/>
                <a:cs typeface="黑体"/>
              </a:rPr>
              <a:t>局部收益止于统计与协议门</a:t>
            </a:r>
            <a:endParaRPr sz="4800" b="1">
              <a:ln w="10160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/>
              <a:ea typeface="黑体"/>
              <a:cs typeface="黑体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E466659E-416E-40C1-B3AE-499B7D04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391160"/>
            <a:ext cx="545465" cy="585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76200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chemeClr val="accent6">
                    <a:lumMod val="75000"/>
                  </a:schemeClr>
                </a:solidFill>
              </a:rPr>
              <a:t>5</a:t>
            </a:r>
            <a:endParaRPr sz="4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096274B-952B-4813-88E2-F25F6326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1372870"/>
            <a:ext cx="5678805" cy="12471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endParaRPr sz="24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51276E1-49CD-4A6A-84EA-CB611120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5923280"/>
            <a:ext cx="10972800" cy="5111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 w="38100">
            <a:solidFill>
              <a:schemeClr val="accent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275" b="1">
                <a:solidFill>
                  <a:schemeClr val="accent6">
                    <a:lumMod val="75000"/>
                  </a:schemeClr>
                </a:solidFill>
              </a:rPr>
              <a:t>局部目标可改善，但统计区间与协议门共同阻止端点主张升级。</a:t>
            </a:r>
            <a:endParaRPr sz="2400" b="1">
              <a:solidFill>
                <a:schemeClr val="tx1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E9163B6-A0A8-4958-986F-7635F50C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1376680"/>
            <a:ext cx="10823575" cy="105537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38100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275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● E4｜冻结池 exact hit 3/8 → 8/8；selection 5/8，logical QASM 4/8</a:t>
            </a:r>
            <a:endParaRPr sz="2400" b="1" baseline="30000">
              <a:solidFill>
                <a:srgbClr val="000000"/>
              </a:solidFill>
            </a:endParaRPr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275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● E4-v2｜native 2q Δ=−513.94；95% CI [−2059.06, 589.94]，跨 0</a:t>
            </a:r>
            <a:endParaRPr sz="2400" b="1">
              <a:solidFill>
                <a:schemeClr val="tx1"/>
              </a:solidFill>
            </a:endParaRPr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275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● E5｜ASCON 0 / PRESENT 6 schedulable groups；audit 90/90，protocol_acceptance=false</a:t>
            </a:r>
            <a:endParaRPr sz="2400" b="1">
              <a:solidFill>
                <a:schemeClr val="tx1"/>
              </a:solidFill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10A79C4B-36BD-4058-8E33-5DFC81D2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550795"/>
            <a:ext cx="4870450" cy="317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 cmpd="sng">
            <a:solidFill>
              <a:srgbClr val="AFABAB">
                <a:alpha val="100000"/>
              </a:srgb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4C6B2FA-B624-48B2-A52D-459FFEEC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245" y="2539365"/>
            <a:ext cx="5295900" cy="317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 cmpd="sng">
            <a:solidFill>
              <a:srgbClr val="AFABAB">
                <a:alpha val="100000"/>
              </a:srgb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CDC4533-81EA-4470-A657-505A8B82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2090"/>
            <a:ext cx="12109450" cy="2959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75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E4/E4-v2/E5 frozen bundles；PROJECT_STATUS_XA202609</a:t>
            </a:r>
            <a:endParaRPr sz="1000">
              <a:solidFill>
                <a:srgbClr val="000000"/>
              </a:solidFill>
              <a:latin typeface="+mn-ea"/>
              <a:ea typeface="+mn-ea"/>
              <a:cs typeface="+mn-ea"/>
            </a:endParaRP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890302" y="2647283"/>
          <a:ext xmlns:a="http://schemas.openxmlformats.org/drawingml/2006/main" cx="4443698" cy="2209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fdb68fdac44e27"/>
          </a:graphicData>
        </a:graphic>
      </p:graphicFrame>
      <p:sp>
        <p:nvSpPr>
          <p:cNvPr id="40" name="E4-v2 statistical boundary">
            <a:extLst xmlns:a="http://schemas.openxmlformats.org/drawingml/2006/main">
              <a:ext uri="{FF2B5EF4-FFF2-40B4-BE49-F238E27FC236}">
                <a16:creationId xmlns:a16="http://schemas.microsoft.com/office/drawing/2014/main" id="{663EA2B4-C1D9-4314-A19A-81DC26AE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02" y="4914233"/>
            <a:ext cx="4443698" cy="7893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13335">
            <a:solidFill>
              <a:srgbClr val="D1D5D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post-E4 replication</a:t>
            </a:r>
          </a:p>
          <a:p xmlns:a="http://schemas.openxmlformats.org/drawingml/2006/main">
            <a:pPr algn="ctr">
              <a:def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CI 跨 0｜generalization=false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6271260" y="2647283"/>
          <a:ext xmlns:a="http://schemas.openxmlformats.org/drawingml/2006/main" cx="4818983" cy="3054953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1095375"/>
                <a:gridCol w="1190625"/>
                <a:gridCol w="1389983"/>
              </a:tblGrid>
              <a:tr h="5524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门</a:t>
                      </a:r>
                    </a:p>
                  </a:txBody>
                  <a:tcPr marL="91440" marR="91440" marT="45720" marB="45720">
                    <a:solidFill>
                      <a:srgbClr val="9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观测</a:t>
                      </a:r>
                    </a:p>
                  </a:txBody>
                  <a:tcPr marL="91440" marR="91440" marT="45720" marB="45720">
                    <a:solidFill>
                      <a:srgbClr val="9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审计</a:t>
                      </a:r>
                    </a:p>
                  </a:txBody>
                  <a:tcPr marL="91440" marR="91440" marT="45720" marB="45720">
                    <a:solidFill>
                      <a:srgbClr val="9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判读</a:t>
                      </a:r>
                    </a:p>
                  </a:txBody>
                  <a:tcPr marL="91440" marR="91440" marT="45720" marB="45720">
                    <a:solidFill>
                      <a:srgbClr val="9B0000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900"/>
                        <a:t>E4 local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/>
                        <a:t>8/8 vs 3/8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/>
                        <a:t>5/8 changed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/>
                        <a:t>局部目标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900"/>
                        <a:t>E4-v2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/>
                        <a:t>Δ=−513.94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/>
                        <a:t>CI 跨 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/>
                        <a:t>不支持改善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900"/>
                        <a:t>E5 activity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/>
                        <a:t>ASCON 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/>
                        <a:t>PRESENT 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/>
                        <a:t>family gate fail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900"/>
                        <a:t>E5 audit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/>
                        <a:t>90/90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/>
                        <a:t>protocol=false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/>
                        <a:t>无 accepted endpoint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1618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563EBEB-A75A-4347-945E-7250DDC0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80" y="2050415"/>
            <a:ext cx="8667115" cy="4656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0" cmpd="sng">
            <a:solidFill>
              <a:srgbClr val="AFABAB">
                <a:alpha val="100000"/>
              </a:srgbClr>
            </a:solidFill>
            <a:prstDash val="sysDot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 defTabSz="0">
              <a:spcBef>
                <a:spcPct val="0"/>
              </a:spcBef>
              <a:spcAft>
                <a:spcPct val="0"/>
              </a:spcAft>
              <a:buSzTx/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C3F282-70B8-4D99-8C50-EEE29A51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445" y="1220470"/>
            <a:ext cx="122104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0">
              <a:alpha val="100000"/>
            </a:srgbClr>
          </a:solidFill>
          <a:ln xmlns:a="http://schemas.openxmlformats.org/drawingml/2006/main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16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cada8b8634f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9135" y="252095"/>
            <a:ext cx="3560445" cy="862965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393C9B62-8670-49CD-9901-C4D0AD98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252095"/>
            <a:ext cx="566928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4800" b="1">
                <a:ln w="10160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/>
                <a:ea typeface="黑体"/>
                <a:cs typeface="黑体"/>
              </a:rPr>
              <a:t>分层证据链约束主张</a:t>
            </a:r>
            <a:endParaRPr sz="4800" b="1">
              <a:ln w="10160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黑体"/>
              <a:ea typeface="黑体"/>
              <a:cs typeface="黑体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02C32409-B998-4FE4-8BA2-47DC23D4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391160"/>
            <a:ext cx="545465" cy="585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76200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4000" b="1">
                <a:solidFill>
                  <a:schemeClr val="accent6">
                    <a:lumMod val="75000"/>
                  </a:schemeClr>
                </a:solidFill>
              </a:rPr>
              <a:t>5</a:t>
            </a:r>
            <a:endParaRPr sz="40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9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5db92788f47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166225" y="1400810"/>
            <a:ext cx="2831465" cy="4968875"/>
          </a:xfrm>
          <a:prstGeom xmlns:a="http://schemas.openxmlformats.org/drawingml/2006/main" prst="rect">
            <a:avLst/>
          </a:prstGeom>
          <a:ln xmlns:a="http://schemas.openxmlformats.org/drawingml/2006/main" w="38100">
            <a:noFill/>
          </a:ln>
        </p:spPr>
      </p:pic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8A72E2A-3BAA-4CA6-ADAE-FB8DEB7F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80" y="1372870"/>
            <a:ext cx="8162925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● 407 tests + smoke ok｜E4-v2 external：cal 26/26、rep 32/32</a:t>
            </a:r>
            <a:endParaRPr sz="24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● E5 V3 current/fresh 20/20；fresh-v2 19/19；protocol=false｜35 页中文主稿已同步 Overleaf｜hardware=false</a:t>
            </a:r>
            <a:endParaRPr sz="24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0DC50AF-C1C6-41F6-9B88-76DA8F37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5945" y="6287135"/>
            <a:ext cx="2231390" cy="4197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 w="38100" cmpd="sng">
            <a:solidFill>
              <a:schemeClr val="tx2">
                <a:lumMod val="75000"/>
                <a:alpha val="100000"/>
              </a:schemeClr>
            </a:solidFill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0000"/>
              </a:lnSpc>
              <a:buClrTx/>
              <a:buSzTx/>
              <a:buFontTx/>
              <a:buNone/>
            </a:pPr>
            <a:r>
              <a:rPr sz="75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E4-v2 26/26 + 32/32</a:t>
            </a:r>
            <a:endParaRPr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lvl="0" algn="ctr">
              <a:lnSpc>
                <a:spcPct val="120000"/>
              </a:lnSpc>
              <a:buClrTx/>
              <a:buSzTx/>
              <a:buFontTx/>
              <a:buNone/>
            </a:pPr>
            <a:r>
              <a:rPr sz="75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E5 V3 20/20｜fresh-v2 19/19｜protocol=false</a:t>
            </a:r>
            <a:endParaRPr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2" name="屏幕录制 2025-10-21 1741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d167758f74a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44805" y="2164080"/>
            <a:ext cx="8384540" cy="42970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5655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8D0DD27-85B6-4A68-84A3-1A77A9E5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445" y="1220470"/>
            <a:ext cx="122104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0">
              <a:alpha val="100000"/>
            </a:srgbClr>
          </a:solidFill>
          <a:ln xmlns:a="http://schemas.openxmlformats.org/drawingml/2006/main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10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a6f14d56040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9135" y="252095"/>
            <a:ext cx="3560445" cy="862965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CF8BD3A-4945-47DA-80B9-56961E5D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" y="252095"/>
            <a:ext cx="6170295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Tx/>
              <a:buNone/>
            </a:pPr>
            <a:r>
              <a:rPr sz="2250" b="1">
                <a:ln w="10160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/>
                <a:ea typeface="黑体"/>
                <a:cs typeface="黑体"/>
              </a:rPr>
              <a:t>下一研究门是 E6-MSO</a:t>
            </a:r>
            <a:endParaRPr sz="4800" b="1">
              <a:ln w="10160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/>
              <a:ea typeface="黑体"/>
              <a:cs typeface="黑体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BB21DE5D-AFEC-4468-972C-AFBEE71D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" y="391160"/>
            <a:ext cx="545465" cy="585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76200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4000" b="1">
                <a:solidFill>
                  <a:schemeClr val="accent6">
                    <a:lumMod val="75000"/>
                  </a:schemeClr>
                </a:solidFill>
              </a:rPr>
              <a:t>6</a:t>
            </a:r>
            <a:endParaRPr sz="4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CD48F19A-9202-417A-9AD2-5B71F171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70" y="1477645"/>
            <a:ext cx="11410315" cy="5114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 sz="1425" b="1">
                <a:solidFill>
                  <a:schemeClr val="accent6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AI4Q｜置换等变 policy + 可验证 Neural MCTS</a:t>
            </a:r>
            <a:endParaRPr sz="24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 sz="1425"/>
              <a:t>把 Boolean 对称性写入结构先验；formal v4 只闭合 provenance，性能仍未验收。</a:t>
            </a:r>
            <a:endParaRPr sz="24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 sz="2400" b="1">
                <a:solidFill>
                  <a:schemeClr val="accent6">
                    <a:lumMod val="75000"/>
                  </a:schemeClr>
                </a:solidFill>
              </a:rPr>
              <a:t/>
            </a:r>
            <a:endParaRPr sz="2400" b="1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 sz="1425"/>
              <a:t>Q4AI｜同池 QAOA + execution-aware utility</a:t>
            </a:r>
            <a:endParaRPr sz="2400" b="1">
              <a:solidFill>
                <a:schemeClr val="accent6">
                  <a:lumMod val="75000"/>
                </a:schemeClr>
              </a:solidFill>
            </a:endParaRPr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rPr sz="1425" b="1">
                <a:solidFill>
                  <a:schemeClr val="accent6">
                    <a:lumMod val="75000"/>
                  </a:schemeClr>
                </a:solidFill>
              </a:rPr>
              <a:t>E2/E4 支持局部选择；E4-v2 CI 跨 0，E5 无 accepted endpoint。</a:t>
            </a:r>
            <a:endParaRPr sz="2400" b="1">
              <a:solidFill>
                <a:schemeClr val="accent6">
                  <a:lumMod val="75000"/>
                </a:schemeClr>
              </a:solidFill>
            </a:endParaRPr>
          </a:p>
          <a:p xmlns:a="http://schemas.openxmlformats.org/drawingml/2006/main">
            <a:pPr algn="just">
              <a:lnSpc>
                <a:spcPct val="160000"/>
              </a:lnSpc>
              <a:buNone/>
            </a:pPr>
            <a:r>
              <a:t/>
            </a:r>
            <a:endParaRPr sz="2400" b="1">
              <a:solidFill>
                <a:schemeClr val="accent6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just">
              <a:lnSpc>
                <a:spcPct val="160000"/>
              </a:lnSpc>
              <a:buNone/>
            </a:pPr>
            <a:r>
              <a:rPr sz="1425"/>
              <a:t>NEXT｜E6-MSO 多输出共享表达式</a:t>
            </a:r>
            <a:endParaRPr sz="2400" b="1">
              <a:solidFill>
                <a:schemeClr val="accent6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just">
              <a:lnSpc>
                <a:spcPct val="160000"/>
              </a:lnSpc>
              <a:buNone/>
            </a:pPr>
            <a:r>
              <a:rPr sz="1425"/>
              <a:t>VectorANF + shared action + compute–fanout–uncompute；显式 workspace peak≤2（MCT 分解未计）。</a:t>
            </a:r>
            <a:endParaRPr sz="2400" b="1">
              <a:solidFill>
                <a:schemeClr val="accent6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just">
              <a:lnSpc>
                <a:spcPct val="160000"/>
              </a:lnSpc>
              <a:buNone/>
            </a:pPr>
            <a:r>
              <a:rPr sz="1425"/>
              <a:t>mechanism MVP 尚无 shared head / QAOA replay / formal blind result；598→581 仅开发观察。</a:t>
            </a:r>
            <a:endParaRPr sz="2400" b="1">
              <a:solidFill>
                <a:schemeClr val="accent6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334839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7DBD35C-E2AC-4DD4-8F6B-DCFF6B1A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35" y="1018540"/>
            <a:ext cx="12193270" cy="33826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0">
              <a:alpha val="100000"/>
            </a:srgbClr>
          </a:solidFill>
          <a:ln xmlns:a="http://schemas.openxmlformats.org/drawingml/2006/main">
            <a:solidFill>
              <a:srgbClr val="004D84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000" b="1"/>
              <a:t>AI for Quantum × Quantum for AI</a:t>
            </a:r>
            <a:endParaRPr sz="6000" b="1"/>
          </a:p>
          <a:p xmlns:a="http://schemas.openxmlformats.org/drawingml/2006/main">
            <a:pPr algn="ctr">
              <a:buNone/>
            </a:pPr>
            <a:r>
              <a:rPr sz="6000" b="1"/>
              <a:t>让每一次搜索预算都接受</a:t>
            </a:r>
            <a:endParaRPr sz="6000" b="1"/>
          </a:p>
          <a:p xmlns:a="http://schemas.openxmlformats.org/drawingml/2006/main">
            <a:pPr algn="ctr">
              <a:buNone/>
            </a:pPr>
            <a:r>
              <a:rPr sz="6000" b="1"/>
              <a:t>语义与端点证据检验</a:t>
            </a:r>
            <a:endParaRPr sz="6000" b="1"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521CAA27-E5EA-48D1-A75B-E49C9E36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005" y="5943600"/>
            <a:ext cx="277685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400" b="1">
                <a:solidFill>
                  <a:schemeClr val="accent6">
                    <a:lumMod val="75000"/>
                  </a:schemeClr>
                </a:solidFill>
              </a:rPr>
              <a:t>XA-202609｜答辩</a:t>
            </a:r>
            <a:endParaRPr sz="2400" b="1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3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87d60ea5940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2620" y="4881880"/>
            <a:ext cx="3560445" cy="862965"/>
          </a:xfrm>
          <a:prstGeom xmlns:a="http://schemas.openxmlformats.org/drawingml/2006/main" prst="rect">
            <a:avLst/>
          </a:prstGeom>
        </p:spPr>
      </p:pic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A5D0BFC-D7ED-4B35-8BA2-4E184A13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95545"/>
            <a:ext cx="5656580" cy="6356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800" b="1">
                <a:solidFill>
                  <a:schemeClr val="accent6">
                    <a:lumMod val="75000"/>
                  </a:schemeClr>
                </a:solidFill>
              </a:rPr>
              <a:t>杭州电子科技大学量子线路编译组</a:t>
            </a:r>
            <a:endParaRPr sz="2800" b="1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716837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2026-08-12T00:46:49.4640000Z</dcterms:created>
  <dcterms:modified xsi:type="dcterms:W3CDTF">2026-08-12T00:46:49.4640000Z</dcterms:modified>
</coreProperties>
</file>